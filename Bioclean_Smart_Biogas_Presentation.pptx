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6865" y="1444625"/>
            <a:ext cx="6998335" cy="3968750"/>
          </a:xfrm>
          <a:prstGeom prst="rect">
            <a:avLst/>
          </a:prstGeom>
          <a:noFill/>
        </p:spPr>
        <p:txBody>
          <a:bodyPr wrap="square" lIns="0" tIns="0" rIns="0" bIns="0" anchor="ctr">
            <a:spAutoFit/>
          </a:bodyPr>
          <a:lstStyle/>
          <a:p>
            <a:pPr algn="l">
              <a:lnSpc>
                <a:spcPct val="100000"/>
              </a:lnSpc>
              <a:spcBef>
                <a:spcPts val="0"/>
              </a:spcBef>
              <a:spcAft>
                <a:spcPts val="1200"/>
              </a:spcAft>
            </a:pPr>
            <a:r>
              <a:rPr sz="1300" b="1" i="0">
                <a:solidFill>
                  <a:srgbClr val="E99A00"/>
                </a:solidFill>
                <a:latin typeface="Calibri" panose="020F0502020204030204"/>
              </a:rPr>
              <a:t>BIOCLEAN  ·  SCHOOL &amp; COMMUNITY INNOVATION</a:t>
            </a:r>
            <a:endParaRPr sz="1300" b="1" i="0">
              <a:solidFill>
                <a:srgbClr val="E99A00"/>
              </a:solidFill>
              <a:latin typeface="Calibri" panose="020F0502020204030204"/>
            </a:endParaRPr>
          </a:p>
          <a:p>
            <a:pPr algn="l">
              <a:lnSpc>
                <a:spcPct val="98000"/>
              </a:lnSpc>
              <a:spcBef>
                <a:spcPts val="0"/>
              </a:spcBef>
              <a:spcAft>
                <a:spcPts val="0"/>
              </a:spcAft>
            </a:pPr>
            <a:r>
              <a:rPr sz="4200" b="1" i="0">
                <a:solidFill>
                  <a:srgbClr val="FFFFFF"/>
                </a:solidFill>
                <a:latin typeface="Calibri" panose="020F0502020204030204"/>
              </a:rPr>
              <a:t>BIOCLEAN SMART</a:t>
            </a:r>
            <a:endParaRPr sz="4200" b="1" i="0">
              <a:solidFill>
                <a:srgbClr val="FFFFFF"/>
              </a:solidFill>
              <a:latin typeface="Calibri" panose="020F0502020204030204"/>
            </a:endParaRPr>
          </a:p>
          <a:p>
            <a:pPr algn="l">
              <a:lnSpc>
                <a:spcPct val="98000"/>
              </a:lnSpc>
              <a:spcBef>
                <a:spcPts val="0"/>
              </a:spcBef>
              <a:spcAft>
                <a:spcPts val="600"/>
              </a:spcAft>
            </a:pPr>
            <a:r>
              <a:rPr sz="4200" b="1" i="0">
                <a:solidFill>
                  <a:srgbClr val="FFFFFF"/>
                </a:solidFill>
                <a:latin typeface="Calibri" panose="020F0502020204030204"/>
              </a:rPr>
              <a:t>BIOGAS SYSTEM</a:t>
            </a:r>
            <a:endParaRPr sz="4200" b="1" i="0">
              <a:solidFill>
                <a:srgbClr val="FFFFFF"/>
              </a:solidFill>
              <a:latin typeface="Calibri" panose="020F0502020204030204"/>
            </a:endParaRPr>
          </a:p>
          <a:p>
            <a:pPr algn="l">
              <a:lnSpc>
                <a:spcPct val="100000"/>
              </a:lnSpc>
              <a:spcBef>
                <a:spcPts val="0"/>
              </a:spcBef>
              <a:spcAft>
                <a:spcPts val="1600"/>
              </a:spcAft>
            </a:pPr>
            <a:r>
              <a:rPr sz="1800" b="1" i="0">
                <a:solidFill>
                  <a:srgbClr val="2E8B57"/>
                </a:solidFill>
                <a:latin typeface="Calibri" panose="020F0502020204030204"/>
              </a:rPr>
              <a:t>(BSBS)</a:t>
            </a:r>
            <a:endParaRPr sz="1800" b="1" i="0">
              <a:solidFill>
                <a:srgbClr val="2E8B57"/>
              </a:solidFill>
              <a:latin typeface="Calibri" panose="020F0502020204030204"/>
            </a:endParaRPr>
          </a:p>
          <a:p>
            <a:pPr algn="l">
              <a:lnSpc>
                <a:spcPct val="110000"/>
              </a:lnSpc>
              <a:spcBef>
                <a:spcPts val="0"/>
              </a:spcBef>
              <a:spcAft>
                <a:spcPts val="500"/>
              </a:spcAft>
            </a:pPr>
            <a:r>
              <a:rPr sz="1700" b="0" i="0">
                <a:solidFill>
                  <a:srgbClr val="E8F3EC"/>
                </a:solidFill>
                <a:latin typeface="Calibri" panose="020F0502020204030204"/>
              </a:rPr>
              <a:t>Combating Air Pollution in Schools and Communities in</a:t>
            </a:r>
            <a:r>
              <a:rPr lang="en-US" sz="1700" b="0" i="0">
                <a:solidFill>
                  <a:srgbClr val="E8F3EC"/>
                </a:solidFill>
                <a:latin typeface="Calibri" panose="020F0502020204030204"/>
              </a:rPr>
              <a:t> </a:t>
            </a:r>
            <a:br>
              <a:rPr lang="en-US" sz="1700" b="0" i="0">
                <a:solidFill>
                  <a:srgbClr val="E8F3EC"/>
                </a:solidFill>
                <a:latin typeface="Calibri" panose="020F0502020204030204"/>
              </a:rPr>
            </a:br>
            <a:r>
              <a:rPr sz="1700" b="0" i="0">
                <a:solidFill>
                  <a:srgbClr val="E8F3EC"/>
                </a:solidFill>
                <a:latin typeface="Calibri" panose="020F0502020204030204"/>
              </a:rPr>
              <a:t>Enugu State</a:t>
            </a:r>
            <a:endParaRPr sz="1700" b="0" i="0">
              <a:solidFill>
                <a:srgbClr val="E8F3EC"/>
              </a:solidFill>
              <a:latin typeface="Calibri" panose="020F0502020204030204"/>
            </a:endParaRPr>
          </a:p>
          <a:p>
            <a:pPr algn="l">
              <a:lnSpc>
                <a:spcPct val="100000"/>
              </a:lnSpc>
              <a:spcBef>
                <a:spcPts val="0"/>
              </a:spcBef>
              <a:spcAft>
                <a:spcPts val="2000"/>
              </a:spcAft>
            </a:pPr>
            <a:r>
              <a:rPr sz="1350" b="0" i="0">
                <a:solidFill>
                  <a:srgbClr val="E8F3EC"/>
                </a:solidFill>
                <a:latin typeface="Calibri" panose="020F0502020204030204"/>
              </a:rPr>
              <a:t>Creating a healthy environment for better learning and healthier living.</a:t>
            </a:r>
            <a:endParaRPr sz="1350" b="0" i="0">
              <a:solidFill>
                <a:srgbClr val="E8F3EC"/>
              </a:solidFill>
              <a:latin typeface="Calibri" panose="020F0502020204030204"/>
            </a:endParaRPr>
          </a:p>
          <a:p>
            <a:pPr algn="l">
              <a:lnSpc>
                <a:spcPct val="100000"/>
              </a:lnSpc>
              <a:spcBef>
                <a:spcPts val="0"/>
              </a:spcBef>
              <a:spcAft>
                <a:spcPts val="100"/>
              </a:spcAft>
            </a:pPr>
            <a:r>
              <a:rPr sz="1200" b="0" i="0">
                <a:solidFill>
                  <a:srgbClr val="5A6B66"/>
                </a:solidFill>
                <a:latin typeface="Calibri" panose="020F0502020204030204"/>
              </a:rPr>
              <a:t>Presented by</a:t>
            </a:r>
            <a:endParaRPr sz="1200" b="0" i="0">
              <a:solidFill>
                <a:srgbClr val="5A6B66"/>
              </a:solidFill>
              <a:latin typeface="Calibri" panose="020F0502020204030204"/>
            </a:endParaRPr>
          </a:p>
          <a:p>
            <a:pPr algn="l">
              <a:lnSpc>
                <a:spcPct val="100000"/>
              </a:lnSpc>
              <a:spcBef>
                <a:spcPts val="0"/>
              </a:spcBef>
              <a:spcAft>
                <a:spcPts val="100"/>
              </a:spcAft>
            </a:pPr>
            <a:r>
              <a:rPr sz="1800" b="1" i="0">
                <a:solidFill>
                  <a:srgbClr val="FFFFFF"/>
                </a:solidFill>
                <a:latin typeface="Calibri" panose="020F0502020204030204"/>
              </a:rPr>
              <a:t>Chinwuba Chinwendu Jennifer</a:t>
            </a:r>
            <a:endParaRPr sz="1800" b="1" i="0">
              <a:solidFill>
                <a:srgbClr val="FFFFFF"/>
              </a:solidFill>
              <a:latin typeface="Calibri" panose="020F0502020204030204"/>
            </a:endParaRPr>
          </a:p>
          <a:p>
            <a:pPr algn="l">
              <a:lnSpc>
                <a:spcPct val="100000"/>
              </a:lnSpc>
              <a:spcBef>
                <a:spcPts val="0"/>
              </a:spcBef>
              <a:spcAft>
                <a:spcPts val="0"/>
              </a:spcAft>
            </a:pPr>
            <a:r>
              <a:rPr sz="1300" b="0" i="0">
                <a:solidFill>
                  <a:srgbClr val="E8F3EC"/>
                </a:solidFill>
                <a:latin typeface="Calibri" panose="020F0502020204030204"/>
              </a:rPr>
              <a:t>Head Girl  ·  Federal Government College, Enugu</a:t>
            </a:r>
            <a:endParaRPr sz="1300" b="0" i="0">
              <a:solidFill>
                <a:srgbClr val="E8F3EC"/>
              </a:solidFill>
              <a:latin typeface="Calibri" panose="020F0502020204030204"/>
            </a:endParaRPr>
          </a:p>
        </p:txBody>
      </p:sp>
      <p:pic>
        <p:nvPicPr>
          <p:cNvPr id="7" name="Picture 6" descr="biogas-diagram.png"/>
          <p:cNvPicPr>
            <a:picLocks noChangeAspect="1"/>
          </p:cNvPicPr>
          <p:nvPr/>
        </p:nvPicPr>
        <p:blipFill>
          <a:blip r:embed="rId1"/>
          <a:stretch>
            <a:fillRect/>
          </a:stretch>
        </p:blipFill>
        <p:spPr>
          <a:xfrm>
            <a:off x="6113145" y="1433830"/>
            <a:ext cx="5986145" cy="3990975"/>
          </a:xfrm>
          <a:prstGeom prst="rect">
            <a:avLst/>
          </a:prstGeom>
        </p:spPr>
      </p:pic>
      <p:sp>
        <p:nvSpPr>
          <p:cNvPr id="8" name="Rounded Rectangle 7"/>
          <p:cNvSpPr/>
          <p:nvPr/>
        </p:nvSpPr>
        <p:spPr>
          <a:xfrm>
            <a:off x="7452360" y="5715000"/>
            <a:ext cx="4343400" cy="457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64008" rIns="45720" bIns="64008" rtlCol="0" anchor="ctr"/>
          <a:lstStyle/>
          <a:p>
            <a:pPr algn="l">
              <a:lnSpc>
                <a:spcPct val="100000"/>
              </a:lnSpc>
              <a:spcBef>
                <a:spcPts val="0"/>
              </a:spcBef>
              <a:spcAft>
                <a:spcPts val="600"/>
              </a:spcAft>
            </a:pPr>
            <a:r>
              <a:rPr sz="1250" b="1" i="0">
                <a:solidFill>
                  <a:srgbClr val="FFFFFF"/>
                </a:solidFill>
                <a:latin typeface="Calibri" panose="020F0502020204030204"/>
              </a:rPr>
              <a:t>WASTE  →  ENERGY</a:t>
            </a:r>
            <a:endParaRPr sz="1250" b="1" i="0">
              <a:solidFill>
                <a:srgbClr val="FFFFFF"/>
              </a:solidFill>
              <a:latin typeface="Calibri" panose="020F0502020204030204"/>
            </a:endParaRPr>
          </a:p>
        </p:txBody>
      </p:sp>
      <p:pic>
        <p:nvPicPr>
          <p:cNvPr id="6" name="Picture 5" descr="images (9)"/>
          <p:cNvPicPr>
            <a:picLocks noChangeAspect="1"/>
          </p:cNvPicPr>
          <p:nvPr/>
        </p:nvPicPr>
        <p:blipFill>
          <a:blip r:embed="rId2">
            <a:alphaModFix amt="20000"/>
          </a:blip>
          <a:stretch>
            <a:fillRect/>
          </a:stretch>
        </p:blipFill>
        <p:spPr>
          <a:xfrm>
            <a:off x="0" y="0"/>
            <a:ext cx="7299960" cy="78911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PROBLEM</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Introduction to Air Pollution</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02</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554480"/>
            <a:ext cx="10515600" cy="868680"/>
          </a:xfrm>
          <a:prstGeom prst="roundRect">
            <a:avLst>
              <a:gd name="adj" fmla="val 6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219456" tIns="64008" rIns="219456" bIns="64008" rtlCol="0" anchor="ctr"/>
          <a:lstStyle/>
          <a:p>
            <a:pPr algn="l">
              <a:lnSpc>
                <a:spcPct val="100000"/>
              </a:lnSpc>
              <a:spcBef>
                <a:spcPts val="0"/>
              </a:spcBef>
              <a:spcAft>
                <a:spcPts val="600"/>
              </a:spcAft>
            </a:pPr>
            <a:r>
              <a:rPr b="1" i="0">
                <a:solidFill>
                  <a:srgbClr val="0E3B2E"/>
                </a:solidFill>
                <a:latin typeface="Calibri" panose="020F0502020204030204"/>
              </a:rPr>
              <a:t>Air pollution </a:t>
            </a:r>
            <a:r>
              <a:rPr b="0" i="0">
                <a:solidFill>
                  <a:srgbClr val="1A2B26"/>
                </a:solidFill>
                <a:latin typeface="Calibri" panose="020F0502020204030204"/>
              </a:rPr>
              <a:t>is the release of substances into the atmosphere in quantities which can be harmful to human health and can cause modification in our climate, leading to an imbalance in nature.</a:t>
            </a:r>
            <a:endParaRPr b="0" i="0">
              <a:solidFill>
                <a:srgbClr val="1A2B26"/>
              </a:solidFill>
              <a:latin typeface="Calibri" panose="020F0502020204030204"/>
            </a:endParaRPr>
          </a:p>
        </p:txBody>
      </p:sp>
      <p:sp>
        <p:nvSpPr>
          <p:cNvPr id="10" name="TextBox 9"/>
          <p:cNvSpPr txBox="1"/>
          <p:nvPr/>
        </p:nvSpPr>
        <p:spPr>
          <a:xfrm>
            <a:off x="868680" y="2578608"/>
            <a:ext cx="5486400" cy="32004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0E3B2E"/>
                </a:solidFill>
                <a:latin typeface="Calibri" panose="020F0502020204030204"/>
              </a:rPr>
              <a:t>Major pollutants</a:t>
            </a:r>
            <a:endParaRPr sz="1500" b="1" i="0">
              <a:solidFill>
                <a:srgbClr val="0E3B2E"/>
              </a:solidFill>
              <a:latin typeface="Calibri" panose="020F0502020204030204"/>
            </a:endParaRPr>
          </a:p>
        </p:txBody>
      </p:sp>
      <p:sp>
        <p:nvSpPr>
          <p:cNvPr id="11" name="Rounded Rectangle 10"/>
          <p:cNvSpPr/>
          <p:nvPr/>
        </p:nvSpPr>
        <p:spPr>
          <a:xfrm>
            <a:off x="868680" y="2907792"/>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600" b="1" i="0">
                <a:solidFill>
                  <a:srgbClr val="E99A00"/>
                </a:solidFill>
                <a:latin typeface="Calibri" panose="020F0502020204030204"/>
              </a:rPr>
              <a:t>01</a:t>
            </a:r>
            <a:r>
              <a:rPr sz="1600" b="1" i="0">
                <a:solidFill>
                  <a:srgbClr val="0E3B2E"/>
                </a:solidFill>
                <a:latin typeface="Calibri" panose="020F0502020204030204"/>
              </a:rPr>
              <a:t>   PM2.5 &amp; PM10</a:t>
            </a:r>
            <a:endParaRPr sz="1600" b="1" i="0">
              <a:solidFill>
                <a:srgbClr val="0E3B2E"/>
              </a:solidFill>
              <a:latin typeface="Calibri" panose="020F0502020204030204"/>
            </a:endParaRPr>
          </a:p>
          <a:p>
            <a:pPr algn="l">
              <a:lnSpc>
                <a:spcPct val="100000"/>
              </a:lnSpc>
              <a:spcBef>
                <a:spcPts val="0"/>
              </a:spcBef>
              <a:spcAft>
                <a:spcPts val="600"/>
              </a:spcAft>
            </a:pPr>
            <a:r>
              <a:rPr sz="1600" b="0" i="0">
                <a:solidFill>
                  <a:srgbClr val="1A2B26"/>
                </a:solidFill>
                <a:latin typeface="Calibri" panose="020F0502020204030204"/>
              </a:rPr>
              <a:t>Tiny dust particles from vehicles and generators. The most dangerous because they travel deep into our lungs.</a:t>
            </a:r>
            <a:endParaRPr sz="1600" b="0" i="0">
              <a:solidFill>
                <a:srgbClr val="1A2B26"/>
              </a:solidFill>
              <a:latin typeface="Calibri" panose="020F0502020204030204"/>
            </a:endParaRPr>
          </a:p>
        </p:txBody>
      </p:sp>
      <p:sp>
        <p:nvSpPr>
          <p:cNvPr id="12" name="Rounded Rectangle 11"/>
          <p:cNvSpPr/>
          <p:nvPr/>
        </p:nvSpPr>
        <p:spPr>
          <a:xfrm>
            <a:off x="6309360" y="2907792"/>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600" b="1" i="0">
                <a:solidFill>
                  <a:srgbClr val="E99A00"/>
                </a:solidFill>
                <a:latin typeface="Calibri" panose="020F0502020204030204"/>
              </a:rPr>
              <a:t>02</a:t>
            </a:r>
            <a:r>
              <a:rPr sz="1600" b="1" i="0">
                <a:solidFill>
                  <a:srgbClr val="0E3B2E"/>
                </a:solidFill>
                <a:latin typeface="Calibri" panose="020F0502020204030204"/>
              </a:rPr>
              <a:t>   Carbon Monoxide (CO)</a:t>
            </a:r>
            <a:endParaRPr sz="1600" b="1" i="0">
              <a:solidFill>
                <a:srgbClr val="0E3B2E"/>
              </a:solidFill>
              <a:latin typeface="Calibri" panose="020F0502020204030204"/>
            </a:endParaRPr>
          </a:p>
          <a:p>
            <a:pPr algn="l">
              <a:lnSpc>
                <a:spcPct val="100000"/>
              </a:lnSpc>
              <a:spcBef>
                <a:spcPts val="0"/>
              </a:spcBef>
              <a:spcAft>
                <a:spcPts val="600"/>
              </a:spcAft>
            </a:pPr>
            <a:r>
              <a:rPr sz="1600" b="0" i="0">
                <a:solidFill>
                  <a:srgbClr val="1A2B26"/>
                </a:solidFill>
                <a:latin typeface="Calibri" panose="020F0502020204030204"/>
              </a:rPr>
              <a:t>From the incomplete burning of fuel such as coal, firewood, diesel and petrol.</a:t>
            </a:r>
            <a:endParaRPr sz="1600" b="0" i="0">
              <a:solidFill>
                <a:srgbClr val="1A2B26"/>
              </a:solidFill>
              <a:latin typeface="Calibri" panose="020F0502020204030204"/>
            </a:endParaRPr>
          </a:p>
        </p:txBody>
      </p:sp>
      <p:sp>
        <p:nvSpPr>
          <p:cNvPr id="13" name="Rounded Rectangle 12"/>
          <p:cNvSpPr/>
          <p:nvPr/>
        </p:nvSpPr>
        <p:spPr>
          <a:xfrm>
            <a:off x="868680" y="3986784"/>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600" b="1" i="0">
                <a:solidFill>
                  <a:srgbClr val="E99A00"/>
                </a:solidFill>
                <a:latin typeface="Calibri" panose="020F0502020204030204"/>
              </a:rPr>
              <a:t>03</a:t>
            </a:r>
            <a:r>
              <a:rPr sz="1600" b="1" i="0">
                <a:solidFill>
                  <a:srgbClr val="0E3B2E"/>
                </a:solidFill>
                <a:latin typeface="Calibri" panose="020F0502020204030204"/>
              </a:rPr>
              <a:t>   Sulphur Dioxide (SO₂)</a:t>
            </a:r>
            <a:endParaRPr sz="1600" b="1" i="0">
              <a:solidFill>
                <a:srgbClr val="0E3B2E"/>
              </a:solidFill>
              <a:latin typeface="Calibri" panose="020F0502020204030204"/>
            </a:endParaRPr>
          </a:p>
          <a:p>
            <a:pPr algn="l">
              <a:lnSpc>
                <a:spcPct val="100000"/>
              </a:lnSpc>
              <a:spcBef>
                <a:spcPts val="0"/>
              </a:spcBef>
              <a:spcAft>
                <a:spcPts val="600"/>
              </a:spcAft>
            </a:pPr>
            <a:r>
              <a:rPr sz="1600" b="0" i="0">
                <a:solidFill>
                  <a:srgbClr val="1A2B26"/>
                </a:solidFill>
                <a:latin typeface="Calibri" panose="020F0502020204030204"/>
              </a:rPr>
              <a:t>Released from gas flaring and diesel combustion.</a:t>
            </a:r>
            <a:endParaRPr sz="1600" b="0" i="0">
              <a:solidFill>
                <a:srgbClr val="1A2B26"/>
              </a:solidFill>
              <a:latin typeface="Calibri" panose="020F0502020204030204"/>
            </a:endParaRPr>
          </a:p>
        </p:txBody>
      </p:sp>
      <p:sp>
        <p:nvSpPr>
          <p:cNvPr id="14" name="Rounded Rectangle 13"/>
          <p:cNvSpPr/>
          <p:nvPr/>
        </p:nvSpPr>
        <p:spPr>
          <a:xfrm>
            <a:off x="6309360" y="3986784"/>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600" b="1" i="0">
                <a:solidFill>
                  <a:srgbClr val="E99A00"/>
                </a:solidFill>
                <a:latin typeface="Calibri" panose="020F0502020204030204"/>
              </a:rPr>
              <a:t>04</a:t>
            </a:r>
            <a:r>
              <a:rPr sz="1600" b="1" i="0">
                <a:solidFill>
                  <a:srgbClr val="0E3B2E"/>
                </a:solidFill>
                <a:latin typeface="Calibri" panose="020F0502020204030204"/>
              </a:rPr>
              <a:t>   Nitrogen Dioxide (NO₂)</a:t>
            </a:r>
            <a:endParaRPr sz="1600" b="1" i="0">
              <a:solidFill>
                <a:srgbClr val="0E3B2E"/>
              </a:solidFill>
              <a:latin typeface="Calibri" panose="020F0502020204030204"/>
            </a:endParaRPr>
          </a:p>
          <a:p>
            <a:pPr algn="l">
              <a:lnSpc>
                <a:spcPct val="100000"/>
              </a:lnSpc>
              <a:spcBef>
                <a:spcPts val="0"/>
              </a:spcBef>
              <a:spcAft>
                <a:spcPts val="600"/>
              </a:spcAft>
            </a:pPr>
            <a:r>
              <a:rPr sz="1600" b="0" i="0">
                <a:solidFill>
                  <a:srgbClr val="1A2B26"/>
                </a:solidFill>
                <a:latin typeface="Calibri" panose="020F0502020204030204"/>
              </a:rPr>
              <a:t>A reddish-brown gas emitted from vehicle engines, generators and gas-flaring industries.</a:t>
            </a:r>
            <a:endParaRPr sz="1600" b="0" i="0">
              <a:solidFill>
                <a:srgbClr val="1A2B26"/>
              </a:solidFill>
              <a:latin typeface="Calibri" panose="020F0502020204030204"/>
            </a:endParaRPr>
          </a:p>
        </p:txBody>
      </p:sp>
      <p:sp>
        <p:nvSpPr>
          <p:cNvPr id="15" name="Rounded Rectangle 14"/>
          <p:cNvSpPr/>
          <p:nvPr/>
        </p:nvSpPr>
        <p:spPr>
          <a:xfrm>
            <a:off x="868680" y="5065776"/>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600" b="1" i="0">
                <a:solidFill>
                  <a:srgbClr val="E99A00"/>
                </a:solidFill>
                <a:latin typeface="Calibri" panose="020F0502020204030204"/>
              </a:rPr>
              <a:t>05</a:t>
            </a:r>
            <a:r>
              <a:rPr sz="1600" b="1" i="0">
                <a:solidFill>
                  <a:srgbClr val="0E3B2E"/>
                </a:solidFill>
                <a:latin typeface="Calibri" panose="020F0502020204030204"/>
              </a:rPr>
              <a:t>   Ground-level Ozone (O₃)</a:t>
            </a:r>
            <a:endParaRPr sz="1600" b="1" i="0">
              <a:solidFill>
                <a:srgbClr val="0E3B2E"/>
              </a:solidFill>
              <a:latin typeface="Calibri" panose="020F0502020204030204"/>
            </a:endParaRPr>
          </a:p>
          <a:p>
            <a:pPr algn="l">
              <a:lnSpc>
                <a:spcPct val="100000"/>
              </a:lnSpc>
              <a:spcBef>
                <a:spcPts val="0"/>
              </a:spcBef>
              <a:spcAft>
                <a:spcPts val="600"/>
              </a:spcAft>
            </a:pPr>
            <a:r>
              <a:rPr sz="1600" b="0" i="0">
                <a:solidFill>
                  <a:srgbClr val="1A2B26"/>
                </a:solidFill>
                <a:latin typeface="Calibri" panose="020F0502020204030204"/>
              </a:rPr>
              <a:t>A major part of smog; formed when sunlight reacts with other pollutants.</a:t>
            </a:r>
            <a:endParaRPr sz="1600" b="0" i="0">
              <a:solidFill>
                <a:srgbClr val="1A2B26"/>
              </a:solidFill>
              <a:latin typeface="Calibri" panose="020F0502020204030204"/>
            </a:endParaRPr>
          </a:p>
        </p:txBody>
      </p:sp>
      <p:sp>
        <p:nvSpPr>
          <p:cNvPr id="16" name="Rounded Rectangle 15"/>
          <p:cNvSpPr/>
          <p:nvPr/>
        </p:nvSpPr>
        <p:spPr>
          <a:xfrm>
            <a:off x="6309360" y="5065776"/>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600" b="1" i="0">
                <a:solidFill>
                  <a:srgbClr val="E99A00"/>
                </a:solidFill>
                <a:latin typeface="Calibri" panose="020F0502020204030204"/>
              </a:rPr>
              <a:t>06</a:t>
            </a:r>
            <a:r>
              <a:rPr sz="1600" b="1" i="0">
                <a:solidFill>
                  <a:srgbClr val="0E3B2E"/>
                </a:solidFill>
                <a:latin typeface="Calibri" panose="020F0502020204030204"/>
              </a:rPr>
              <a:t>   Methane (CH₄)</a:t>
            </a:r>
            <a:endParaRPr sz="1600" b="1" i="0">
              <a:solidFill>
                <a:srgbClr val="0E3B2E"/>
              </a:solidFill>
              <a:latin typeface="Calibri" panose="020F0502020204030204"/>
            </a:endParaRPr>
          </a:p>
          <a:p>
            <a:pPr algn="l">
              <a:lnSpc>
                <a:spcPct val="100000"/>
              </a:lnSpc>
              <a:spcBef>
                <a:spcPts val="0"/>
              </a:spcBef>
              <a:spcAft>
                <a:spcPts val="600"/>
              </a:spcAft>
            </a:pPr>
            <a:r>
              <a:rPr sz="1600" b="0" i="0">
                <a:solidFill>
                  <a:srgbClr val="1A2B26"/>
                </a:solidFill>
                <a:latin typeface="Calibri" panose="020F0502020204030204"/>
              </a:rPr>
              <a:t>A colourless, odourless gas from sewage, decomposing waste and gas flaring; reacts with sunlight to form smog.</a:t>
            </a:r>
            <a:endParaRPr sz="1600" b="0" i="0">
              <a:solidFill>
                <a:srgbClr val="1A2B26"/>
              </a:solidFill>
              <a:latin typeface="Calibri" panose="020F0502020204030204"/>
            </a:endParaRPr>
          </a:p>
        </p:txBody>
      </p:sp>
      <p:sp>
        <p:nvSpPr>
          <p:cNvPr id="17" name="Rounded Rectangle 16"/>
          <p:cNvSpPr/>
          <p:nvPr/>
        </p:nvSpPr>
        <p:spPr>
          <a:xfrm>
            <a:off x="868680" y="6144768"/>
            <a:ext cx="10515600" cy="420624"/>
          </a:xfrm>
          <a:prstGeom prst="roundRect">
            <a:avLst>
              <a:gd name="adj" fmla="val 50000"/>
            </a:avLst>
          </a:prstGeom>
          <a:solidFill>
            <a:srgbClr val="FCEFDC"/>
          </a:solidFill>
          <a:ln w="12700">
            <a:solidFill>
              <a:srgbClr val="E99A00"/>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sz="1200" b="0" i="0">
                <a:solidFill>
                  <a:srgbClr val="1A2B26"/>
                </a:solidFill>
                <a:latin typeface="Calibri" panose="020F0502020204030204"/>
              </a:rPr>
              <a:t>WHO reports that about </a:t>
            </a:r>
            <a:r>
              <a:rPr sz="1200" b="1" i="0">
                <a:solidFill>
                  <a:srgbClr val="0E3B2E"/>
                </a:solidFill>
                <a:latin typeface="Calibri" panose="020F0502020204030204"/>
              </a:rPr>
              <a:t>6.7 million premature deaths every year</a:t>
            </a:r>
            <a:r>
              <a:rPr sz="1200" b="0" i="0">
                <a:solidFill>
                  <a:srgbClr val="1A2B26"/>
                </a:solidFill>
                <a:latin typeface="Calibri" panose="020F0502020204030204"/>
              </a:rPr>
              <a:t> are caused by air pollution.</a:t>
            </a:r>
            <a:endParaRPr sz="1200" b="0" i="0">
              <a:solidFill>
                <a:srgbClr val="1A2B26"/>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LOCAL EVIDENCE</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Current Situation in My School</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03</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627632"/>
            <a:ext cx="10515600" cy="1920240"/>
          </a:xfrm>
          <a:prstGeom prst="roundRect">
            <a:avLst>
              <a:gd name="adj" fmla="val 6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56032" tIns="64008" rIns="256032" bIns="64008" rtlCol="0" anchor="ctr"/>
          <a:lstStyle/>
          <a:p>
            <a:pPr algn="l">
              <a:lnSpc>
                <a:spcPct val="100000"/>
              </a:lnSpc>
              <a:spcBef>
                <a:spcPts val="0"/>
              </a:spcBef>
              <a:spcAft>
                <a:spcPts val="600"/>
              </a:spcAft>
            </a:pPr>
            <a:r>
              <a:rPr b="0" i="0">
                <a:solidFill>
                  <a:srgbClr val="1A2B26"/>
                </a:solidFill>
                <a:latin typeface="Calibri" panose="020F0502020204030204"/>
              </a:rPr>
              <a:t>Most days in my school — especially within the hostels — my fellow students complain of drowsiness and nausea. This is due to the presence of </a:t>
            </a:r>
            <a:r>
              <a:rPr b="1" i="0">
                <a:solidFill>
                  <a:srgbClr val="0E3B2E"/>
                </a:solidFill>
                <a:latin typeface="Calibri" panose="020F0502020204030204"/>
              </a:rPr>
              <a:t>ammonia (NH₃)</a:t>
            </a:r>
            <a:r>
              <a:rPr b="0" i="0">
                <a:solidFill>
                  <a:srgbClr val="1A2B26"/>
                </a:solidFill>
                <a:latin typeface="Calibri" panose="020F0502020204030204"/>
              </a:rPr>
              <a:t> and </a:t>
            </a:r>
            <a:r>
              <a:rPr b="1" i="0">
                <a:solidFill>
                  <a:srgbClr val="0E3B2E"/>
                </a:solidFill>
                <a:latin typeface="Calibri" panose="020F0502020204030204"/>
              </a:rPr>
              <a:t>hydrogen sulphide (H₂S)</a:t>
            </a:r>
            <a:r>
              <a:rPr b="0" i="0">
                <a:solidFill>
                  <a:srgbClr val="1A2B26"/>
                </a:solidFill>
                <a:latin typeface="Calibri" panose="020F0502020204030204"/>
              </a:rPr>
              <a:t> gas from sewage and open dumps.</a:t>
            </a:r>
            <a:endParaRPr b="0" i="0">
              <a:solidFill>
                <a:srgbClr val="1A2B26"/>
              </a:solidFill>
              <a:latin typeface="Calibri" panose="020F0502020204030204"/>
            </a:endParaRPr>
          </a:p>
        </p:txBody>
      </p:sp>
      <p:sp>
        <p:nvSpPr>
          <p:cNvPr id="10" name="TextBox 9"/>
          <p:cNvSpPr txBox="1"/>
          <p:nvPr/>
        </p:nvSpPr>
        <p:spPr>
          <a:xfrm>
            <a:off x="868680" y="3749039"/>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B7A4E"/>
                </a:solidFill>
                <a:latin typeface="Calibri" panose="020F0502020204030204"/>
              </a:rPr>
              <a:t>What students experience daily</a:t>
            </a:r>
            <a:endParaRPr sz="1500" b="1" i="0">
              <a:solidFill>
                <a:srgbClr val="1B7A4E"/>
              </a:solidFill>
              <a:latin typeface="Calibri" panose="020F0502020204030204"/>
            </a:endParaRPr>
          </a:p>
        </p:txBody>
      </p:sp>
      <p:sp>
        <p:nvSpPr>
          <p:cNvPr id="11" name="Rounded Rectangle 10"/>
          <p:cNvSpPr/>
          <p:nvPr/>
        </p:nvSpPr>
        <p:spPr>
          <a:xfrm>
            <a:off x="868680" y="4114800"/>
            <a:ext cx="10515600" cy="566928"/>
          </a:xfrm>
          <a:prstGeom prst="roundRect">
            <a:avLst>
              <a:gd name="adj" fmla="val 12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b="1" i="0">
                <a:solidFill>
                  <a:srgbClr val="1B7A4E"/>
                </a:solidFill>
                <a:latin typeface="Calibri" panose="020F0502020204030204"/>
              </a:rPr>
              <a:t>Drowsiness &amp; nausea</a:t>
            </a:r>
            <a:r>
              <a:rPr b="0" i="0">
                <a:solidFill>
                  <a:srgbClr val="1A2B26"/>
                </a:solidFill>
                <a:latin typeface="Calibri" panose="020F0502020204030204"/>
              </a:rPr>
              <a:t>   —   Reported especially within the hostels, linked to gases from sewage and open dumps.</a:t>
            </a:r>
            <a:endParaRPr b="0" i="0">
              <a:solidFill>
                <a:srgbClr val="1A2B26"/>
              </a:solidFill>
              <a:latin typeface="Calibri" panose="020F0502020204030204"/>
            </a:endParaRPr>
          </a:p>
        </p:txBody>
      </p:sp>
      <p:sp>
        <p:nvSpPr>
          <p:cNvPr id="12" name="Rounded Rectangle 11"/>
          <p:cNvSpPr/>
          <p:nvPr/>
        </p:nvSpPr>
        <p:spPr>
          <a:xfrm>
            <a:off x="868680" y="4773168"/>
            <a:ext cx="10515600" cy="566928"/>
          </a:xfrm>
          <a:prstGeom prst="roundRect">
            <a:avLst>
              <a:gd name="adj" fmla="val 12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b="1" i="0">
                <a:solidFill>
                  <a:srgbClr val="1B7A4E"/>
                </a:solidFill>
                <a:latin typeface="Calibri" panose="020F0502020204030204"/>
              </a:rPr>
              <a:t>Smoke from burning waste</a:t>
            </a:r>
            <a:r>
              <a:rPr b="0" i="0">
                <a:solidFill>
                  <a:srgbClr val="1A2B26"/>
                </a:solidFill>
                <a:latin typeface="Calibri" panose="020F0502020204030204"/>
              </a:rPr>
              <a:t>   —   Students feel uncomfortable inhaling smoke when waste is burned on the premises.</a:t>
            </a:r>
            <a:endParaRPr b="0" i="0">
              <a:solidFill>
                <a:srgbClr val="1A2B26"/>
              </a:solidFill>
              <a:latin typeface="Calibri" panose="020F0502020204030204"/>
            </a:endParaRPr>
          </a:p>
        </p:txBody>
      </p:sp>
      <p:sp>
        <p:nvSpPr>
          <p:cNvPr id="13" name="Rounded Rectangle 12"/>
          <p:cNvSpPr/>
          <p:nvPr/>
        </p:nvSpPr>
        <p:spPr>
          <a:xfrm>
            <a:off x="868680" y="5431536"/>
            <a:ext cx="10515600" cy="566928"/>
          </a:xfrm>
          <a:prstGeom prst="roundRect">
            <a:avLst>
              <a:gd name="adj" fmla="val 12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b="1" i="0">
                <a:solidFill>
                  <a:srgbClr val="1B7A4E"/>
                </a:solidFill>
                <a:latin typeface="Calibri" panose="020F0502020204030204"/>
              </a:rPr>
              <a:t>Unbreathable classrooms</a:t>
            </a:r>
            <a:r>
              <a:rPr b="0" i="0">
                <a:solidFill>
                  <a:srgbClr val="1A2B26"/>
                </a:solidFill>
                <a:latin typeface="Calibri" panose="020F0502020204030204"/>
              </a:rPr>
              <a:t>   —   Some students no longer enter classes because they cannot breathe comfortably.</a:t>
            </a:r>
            <a:endParaRPr b="0" i="0">
              <a:solidFill>
                <a:srgbClr val="1A2B26"/>
              </a:solidFill>
              <a:latin typeface="Calibri" panose="020F0502020204030204"/>
            </a:endParaRPr>
          </a:p>
        </p:txBody>
      </p:sp>
      <p:sp>
        <p:nvSpPr>
          <p:cNvPr id="14" name="TextBox 13"/>
          <p:cNvSpPr txBox="1"/>
          <p:nvPr/>
        </p:nvSpPr>
        <p:spPr>
          <a:xfrm>
            <a:off x="868680" y="6144768"/>
            <a:ext cx="1051560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0E3B2E"/>
                </a:solidFill>
                <a:latin typeface="Calibri" panose="020F0502020204030204"/>
              </a:rPr>
              <a:t>Clean air is not a luxury — it is a learning condition.</a:t>
            </a:r>
            <a:endParaRPr sz="1400" b="1" i="0">
              <a:solidFill>
                <a:srgbClr val="0E3B2E"/>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LOCAL CONTEXT</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My Community Challenge</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04</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TextBox 8"/>
          <p:cNvSpPr txBox="1"/>
          <p:nvPr/>
        </p:nvSpPr>
        <p:spPr>
          <a:xfrm>
            <a:off x="868680" y="1572768"/>
            <a:ext cx="10515600" cy="1660525"/>
          </a:xfrm>
          <a:prstGeom prst="rect">
            <a:avLst/>
          </a:prstGeom>
          <a:noFill/>
        </p:spPr>
        <p:txBody>
          <a:bodyPr wrap="square" lIns="0" tIns="0" rIns="0" bIns="0" anchor="t">
            <a:spAutoFit/>
          </a:bodyPr>
          <a:lstStyle/>
          <a:p>
            <a:pPr algn="l">
              <a:lnSpc>
                <a:spcPct val="120000"/>
              </a:lnSpc>
              <a:spcBef>
                <a:spcPts val="0"/>
              </a:spcBef>
              <a:spcAft>
                <a:spcPts val="0"/>
              </a:spcAft>
            </a:pPr>
            <a:r>
              <a:rPr b="0" i="0">
                <a:solidFill>
                  <a:srgbClr val="1A2B26"/>
                </a:solidFill>
                <a:latin typeface="Calibri" panose="020F0502020204030204"/>
              </a:rPr>
              <a:t>Nowadays, most homes in my community utilise </a:t>
            </a:r>
            <a:r>
              <a:rPr b="1" i="0">
                <a:solidFill>
                  <a:srgbClr val="0E3B2E"/>
                </a:solidFill>
                <a:latin typeface="Calibri" panose="020F0502020204030204"/>
              </a:rPr>
              <a:t>charcoal, stoves and generators</a:t>
            </a:r>
            <a:r>
              <a:rPr b="0" i="0">
                <a:solidFill>
                  <a:srgbClr val="1A2B26"/>
                </a:solidFill>
                <a:latin typeface="Calibri" panose="020F0502020204030204"/>
              </a:rPr>
              <a:t> for cooking and powering their houses. As we all know, coal burns in a limited supply of air to release </a:t>
            </a:r>
            <a:r>
              <a:rPr b="1" i="0">
                <a:solidFill>
                  <a:srgbClr val="0E3B2E"/>
                </a:solidFill>
                <a:latin typeface="Calibri" panose="020F0502020204030204"/>
              </a:rPr>
              <a:t>carbon monoxide (CO)</a:t>
            </a:r>
            <a:r>
              <a:rPr b="0" i="0">
                <a:solidFill>
                  <a:srgbClr val="1A2B26"/>
                </a:solidFill>
                <a:latin typeface="Calibri" panose="020F0502020204030204"/>
              </a:rPr>
              <a:t>, a colourless and odourless gas which, when inhaled excessively, accumulates in the body and reacts with the haemoglobin of our bloo</a:t>
            </a:r>
            <a:r>
              <a:rPr lang="en-US" b="0" i="0">
                <a:solidFill>
                  <a:srgbClr val="1A2B26"/>
                </a:solidFill>
                <a:latin typeface="Calibri" panose="020F0502020204030204"/>
              </a:rPr>
              <a:t>a</a:t>
            </a:r>
            <a:r>
              <a:rPr b="0" i="0">
                <a:solidFill>
                  <a:srgbClr val="1A2B26"/>
                </a:solidFill>
                <a:latin typeface="Calibri" panose="020F0502020204030204"/>
              </a:rPr>
              <a:t>d to form </a:t>
            </a:r>
            <a:r>
              <a:rPr b="1" i="0">
                <a:solidFill>
                  <a:srgbClr val="0E3B2E"/>
                </a:solidFill>
                <a:latin typeface="Calibri" panose="020F0502020204030204"/>
              </a:rPr>
              <a:t>carboxyhaemoglobin</a:t>
            </a:r>
            <a:r>
              <a:rPr b="0" i="0">
                <a:solidFill>
                  <a:srgbClr val="1A2B26"/>
                </a:solidFill>
                <a:latin typeface="Calibri" panose="020F0502020204030204"/>
              </a:rPr>
              <a:t>. This cuts down the level of oxygen delivered in the body, leading to severe cardiovascular issues or even death.</a:t>
            </a:r>
            <a:endParaRPr b="0" i="0">
              <a:solidFill>
                <a:srgbClr val="1A2B26"/>
              </a:solidFill>
              <a:latin typeface="Calibri" panose="020F0502020204030204"/>
            </a:endParaRPr>
          </a:p>
        </p:txBody>
      </p:sp>
      <p:sp>
        <p:nvSpPr>
          <p:cNvPr id="10" name="TextBox 9"/>
          <p:cNvSpPr txBox="1"/>
          <p:nvPr/>
        </p:nvSpPr>
        <p:spPr>
          <a:xfrm>
            <a:off x="868680" y="3977639"/>
            <a:ext cx="10515600" cy="664210"/>
          </a:xfrm>
          <a:prstGeom prst="rect">
            <a:avLst/>
          </a:prstGeom>
          <a:noFill/>
        </p:spPr>
        <p:txBody>
          <a:bodyPr wrap="square" lIns="0" tIns="0" rIns="0" bIns="0" anchor="t">
            <a:spAutoFit/>
          </a:bodyPr>
          <a:lstStyle/>
          <a:p>
            <a:pPr algn="l">
              <a:lnSpc>
                <a:spcPct val="120000"/>
              </a:lnSpc>
              <a:spcBef>
                <a:spcPts val="0"/>
              </a:spcBef>
              <a:spcAft>
                <a:spcPts val="0"/>
              </a:spcAft>
            </a:pPr>
            <a:r>
              <a:rPr b="0" i="0">
                <a:solidFill>
                  <a:srgbClr val="1A2B26"/>
                </a:solidFill>
                <a:latin typeface="Calibri" panose="020F0502020204030204"/>
              </a:rPr>
              <a:t>Furthermore, most houses in my community still use poor sewage systems. These include </a:t>
            </a:r>
            <a:r>
              <a:rPr b="1" i="0">
                <a:solidFill>
                  <a:srgbClr val="0E3B2E"/>
                </a:solidFill>
                <a:latin typeface="Calibri" panose="020F0502020204030204"/>
              </a:rPr>
              <a:t>broken septic tanks and leaking sewage pipes</a:t>
            </a:r>
            <a:r>
              <a:rPr b="0" i="0">
                <a:solidFill>
                  <a:srgbClr val="1A2B26"/>
                </a:solidFill>
                <a:latin typeface="Calibri" panose="020F0502020204030204"/>
              </a:rPr>
              <a:t>, which cause air pollution.</a:t>
            </a:r>
            <a:endParaRPr b="0" i="0">
              <a:solidFill>
                <a:srgbClr val="1A2B26"/>
              </a:solidFill>
              <a:latin typeface="Calibri" panose="020F0502020204030204"/>
            </a:endParaRPr>
          </a:p>
        </p:txBody>
      </p:sp>
      <p:sp>
        <p:nvSpPr>
          <p:cNvPr id="11" name="Rounded Rectangle 10"/>
          <p:cNvSpPr/>
          <p:nvPr/>
        </p:nvSpPr>
        <p:spPr>
          <a:xfrm>
            <a:off x="868680" y="4983480"/>
            <a:ext cx="10515600" cy="1325880"/>
          </a:xfrm>
          <a:prstGeom prst="roundRect">
            <a:avLst>
              <a:gd name="adj" fmla="val 8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256032" tIns="64008" rIns="256032" bIns="64008" rtlCol="0" anchor="ctr"/>
          <a:lstStyle/>
          <a:p>
            <a:pPr algn="l">
              <a:lnSpc>
                <a:spcPct val="100000"/>
              </a:lnSpc>
              <a:spcBef>
                <a:spcPts val="0"/>
              </a:spcBef>
              <a:spcAft>
                <a:spcPts val="600"/>
              </a:spcAft>
            </a:pPr>
            <a:r>
              <a:rPr b="1" i="0">
                <a:solidFill>
                  <a:srgbClr val="1B7A4E"/>
                </a:solidFill>
                <a:latin typeface="Calibri" panose="020F0502020204030204"/>
              </a:rPr>
              <a:t>THE COMMUNITY NEED</a:t>
            </a:r>
            <a:endParaRPr b="1" i="0">
              <a:solidFill>
                <a:srgbClr val="1B7A4E"/>
              </a:solidFill>
              <a:latin typeface="Calibri" panose="020F0502020204030204"/>
            </a:endParaRPr>
          </a:p>
          <a:p>
            <a:pPr algn="l">
              <a:lnSpc>
                <a:spcPct val="100000"/>
              </a:lnSpc>
              <a:spcBef>
                <a:spcPts val="0"/>
              </a:spcBef>
              <a:spcAft>
                <a:spcPts val="600"/>
              </a:spcAft>
            </a:pPr>
            <a:r>
              <a:rPr b="0" i="0">
                <a:solidFill>
                  <a:srgbClr val="0E3B2E"/>
                </a:solidFill>
                <a:latin typeface="Calibri" panose="020F0502020204030204"/>
              </a:rPr>
              <a:t>Safer waste handling  +  cleaner energy  +  better sanitation  →  healthier, more productive homes and schools.</a:t>
            </a:r>
            <a:endParaRPr b="0" i="0">
              <a:solidFill>
                <a:srgbClr val="0E3B2E"/>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IMPACT</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700" b="1" i="0">
                <a:solidFill>
                  <a:srgbClr val="0E3B2E"/>
                </a:solidFill>
                <a:latin typeface="Calibri" panose="020F0502020204030204"/>
              </a:rPr>
              <a:t>The Effects of Air Pollution in Our Schools and Communities</a:t>
            </a:r>
            <a:endParaRPr sz="27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05</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627632"/>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01</a:t>
            </a:r>
            <a:r>
              <a:rPr b="1" i="0">
                <a:solidFill>
                  <a:srgbClr val="0E3B2E"/>
                </a:solidFill>
                <a:latin typeface="Calibri" panose="020F0502020204030204"/>
              </a:rPr>
              <a:t>   Health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Air pollution affects our health through diseases like asthma, pneumonia and lung cancer. Families are exposed to serious, long-term health risks.</a:t>
            </a:r>
            <a:endParaRPr b="0" i="0">
              <a:solidFill>
                <a:srgbClr val="1A2B26"/>
              </a:solidFill>
              <a:latin typeface="Calibri" panose="020F0502020204030204"/>
            </a:endParaRPr>
          </a:p>
        </p:txBody>
      </p:sp>
      <p:sp>
        <p:nvSpPr>
          <p:cNvPr id="10" name="Rounded Rectangle 9"/>
          <p:cNvSpPr/>
          <p:nvPr/>
        </p:nvSpPr>
        <p:spPr>
          <a:xfrm>
            <a:off x="6309360" y="1627632"/>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02</a:t>
            </a:r>
            <a:r>
              <a:rPr b="1" i="0">
                <a:solidFill>
                  <a:srgbClr val="0E3B2E"/>
                </a:solidFill>
                <a:latin typeface="Calibri" panose="020F0502020204030204"/>
              </a:rPr>
              <a:t>   Academic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Students find it difficult to learn in polluted environments, leading to poor grades by the end of the term or session. Teachers may also lose interest in teaching, causing poor educational outcomes.</a:t>
            </a:r>
            <a:endParaRPr b="0" i="0">
              <a:solidFill>
                <a:srgbClr val="1A2B26"/>
              </a:solidFill>
              <a:latin typeface="Calibri" panose="020F0502020204030204"/>
            </a:endParaRPr>
          </a:p>
        </p:txBody>
      </p:sp>
      <p:sp>
        <p:nvSpPr>
          <p:cNvPr id="11" name="Rounded Rectangle 10"/>
          <p:cNvSpPr/>
          <p:nvPr/>
        </p:nvSpPr>
        <p:spPr>
          <a:xfrm>
            <a:off x="868680" y="3877056"/>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03</a:t>
            </a:r>
            <a:r>
              <a:rPr b="1" i="0">
                <a:solidFill>
                  <a:srgbClr val="0E3B2E"/>
                </a:solidFill>
                <a:latin typeface="Calibri" panose="020F0502020204030204"/>
              </a:rPr>
              <a:t>   Economic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Families spend their income on treatment and medical expenses, reducing money available for other needs. Workers also lose productive days to sickness.</a:t>
            </a:r>
            <a:endParaRPr b="0" i="0">
              <a:solidFill>
                <a:srgbClr val="1A2B26"/>
              </a:solidFill>
              <a:latin typeface="Calibri" panose="020F0502020204030204"/>
            </a:endParaRPr>
          </a:p>
        </p:txBody>
      </p:sp>
      <p:sp>
        <p:nvSpPr>
          <p:cNvPr id="12" name="Rounded Rectangle 11"/>
          <p:cNvSpPr/>
          <p:nvPr/>
        </p:nvSpPr>
        <p:spPr>
          <a:xfrm>
            <a:off x="6309360" y="3877056"/>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04</a:t>
            </a:r>
            <a:r>
              <a:rPr b="1" i="0">
                <a:solidFill>
                  <a:srgbClr val="0E3B2E"/>
                </a:solidFill>
                <a:latin typeface="Calibri" panose="020F0502020204030204"/>
              </a:rPr>
              <a:t>   Social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Air pollution reduces interaction among people, who fear stepping out to inhale smoke, smog or bad odour. Students face embarrassment and stigma over fears of airborne disease.</a:t>
            </a:r>
            <a:endParaRPr b="0" i="0">
              <a:solidFill>
                <a:srgbClr val="1A2B26"/>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2004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1656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300" b="1" i="0">
                <a:solidFill>
                  <a:srgbClr val="0E3B2E"/>
                </a:solidFill>
                <a:latin typeface="Calibri" panose="020F0502020204030204"/>
              </a:rPr>
              <a:t>The Research and Science Behind the Innovation: Bioclean Smart Biogas System (BSBS)</a:t>
            </a:r>
            <a:endParaRPr sz="2300" b="1" i="0">
              <a:solidFill>
                <a:srgbClr val="0E3B2E"/>
              </a:solidFill>
              <a:latin typeface="Calibri" panose="020F0502020204030204"/>
            </a:endParaRPr>
          </a:p>
        </p:txBody>
      </p:sp>
      <p:sp>
        <p:nvSpPr>
          <p:cNvPr id="6" name="Rectangle 5"/>
          <p:cNvSpPr/>
          <p:nvPr/>
        </p:nvSpPr>
        <p:spPr>
          <a:xfrm>
            <a:off x="868680" y="111963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06</a:t>
            </a:r>
            <a:endParaRPr sz="1700" b="1" i="0">
              <a:solidFill>
                <a:srgbClr val="FFFFFF"/>
              </a:solidFill>
              <a:latin typeface="Calibri" panose="020F0502020204030204"/>
            </a:endParaRPr>
          </a:p>
        </p:txBody>
      </p:sp>
      <p:sp>
        <p:nvSpPr>
          <p:cNvPr id="9" name="TextBox 8"/>
          <p:cNvSpPr txBox="1"/>
          <p:nvPr/>
        </p:nvSpPr>
        <p:spPr>
          <a:xfrm>
            <a:off x="868680" y="1219200"/>
            <a:ext cx="10515600" cy="365760"/>
          </a:xfrm>
          <a:prstGeom prst="rect">
            <a:avLst/>
          </a:prstGeom>
          <a:noFill/>
        </p:spPr>
        <p:txBody>
          <a:bodyPr wrap="square" lIns="0" tIns="0" rIns="0" bIns="0" anchor="t">
            <a:spAutoFit/>
          </a:bodyPr>
          <a:lstStyle/>
          <a:p>
            <a:pPr algn="l">
              <a:lnSpc>
                <a:spcPct val="100000"/>
              </a:lnSpc>
              <a:spcBef>
                <a:spcPts val="0"/>
              </a:spcBef>
              <a:spcAft>
                <a:spcPts val="100"/>
              </a:spcAft>
            </a:pPr>
            <a:r>
              <a:rPr sz="1400" b="1" i="0">
                <a:solidFill>
                  <a:srgbClr val="1B7A4E"/>
                </a:solidFill>
                <a:latin typeface="Calibri" panose="020F0502020204030204"/>
              </a:rPr>
              <a:t>What is biogas?</a:t>
            </a:r>
            <a:endParaRPr sz="1400" b="1" i="0">
              <a:solidFill>
                <a:srgbClr val="1B7A4E"/>
              </a:solidFill>
              <a:latin typeface="Calibri" panose="020F0502020204030204"/>
            </a:endParaRPr>
          </a:p>
        </p:txBody>
      </p:sp>
      <p:sp>
        <p:nvSpPr>
          <p:cNvPr id="10" name="TextBox 9"/>
          <p:cNvSpPr txBox="1"/>
          <p:nvPr/>
        </p:nvSpPr>
        <p:spPr>
          <a:xfrm>
            <a:off x="868680" y="1461008"/>
            <a:ext cx="10515600" cy="276860"/>
          </a:xfrm>
          <a:prstGeom prst="rect">
            <a:avLst/>
          </a:prstGeom>
          <a:noFill/>
        </p:spPr>
        <p:txBody>
          <a:bodyPr wrap="square" lIns="0" tIns="0" rIns="0" bIns="0" anchor="t">
            <a:spAutoFit/>
          </a:bodyPr>
          <a:lstStyle/>
          <a:p>
            <a:pPr algn="l">
              <a:lnSpc>
                <a:spcPct val="100000"/>
              </a:lnSpc>
              <a:spcBef>
                <a:spcPts val="0"/>
              </a:spcBef>
              <a:spcAft>
                <a:spcPts val="0"/>
              </a:spcAft>
            </a:pPr>
            <a:r>
              <a:rPr b="0" i="0">
                <a:solidFill>
                  <a:srgbClr val="1A2B26"/>
                </a:solidFill>
                <a:latin typeface="Calibri" panose="020F0502020204030204"/>
              </a:rPr>
              <a:t>Biogas is a renewable fuel produced when microorganisms break down organic waste without oxygen.</a:t>
            </a:r>
            <a:endParaRPr b="0" i="0">
              <a:solidFill>
                <a:srgbClr val="1A2B26"/>
              </a:solidFill>
              <a:latin typeface="Calibri" panose="020F0502020204030204"/>
            </a:endParaRPr>
          </a:p>
        </p:txBody>
      </p:sp>
      <p:sp>
        <p:nvSpPr>
          <p:cNvPr id="11" name="TextBox 10"/>
          <p:cNvSpPr txBox="1"/>
          <p:nvPr/>
        </p:nvSpPr>
        <p:spPr>
          <a:xfrm>
            <a:off x="868680" y="1757680"/>
            <a:ext cx="10515600" cy="320040"/>
          </a:xfrm>
          <a:prstGeom prst="rect">
            <a:avLst/>
          </a:prstGeom>
          <a:noFill/>
        </p:spPr>
        <p:txBody>
          <a:bodyPr wrap="square" lIns="0" tIns="0" rIns="0" bIns="0" anchor="t">
            <a:spAutoFit/>
          </a:bodyPr>
          <a:lstStyle/>
          <a:p>
            <a:pPr algn="l">
              <a:lnSpc>
                <a:spcPct val="100000"/>
              </a:lnSpc>
              <a:spcBef>
                <a:spcPts val="0"/>
              </a:spcBef>
              <a:spcAft>
                <a:spcPts val="100"/>
              </a:spcAft>
            </a:pPr>
            <a:r>
              <a:rPr sz="1400" b="1" i="0">
                <a:solidFill>
                  <a:srgbClr val="1B7A4E"/>
                </a:solidFill>
                <a:latin typeface="Calibri" panose="020F0502020204030204"/>
              </a:rPr>
              <a:t>The process</a:t>
            </a:r>
            <a:endParaRPr sz="1400" b="1" i="0">
              <a:solidFill>
                <a:srgbClr val="1B7A4E"/>
              </a:solidFill>
              <a:latin typeface="Calibri" panose="020F0502020204030204"/>
            </a:endParaRPr>
          </a:p>
        </p:txBody>
      </p:sp>
      <p:sp>
        <p:nvSpPr>
          <p:cNvPr id="12" name="Rounded Rectangle 11"/>
          <p:cNvSpPr/>
          <p:nvPr/>
        </p:nvSpPr>
        <p:spPr>
          <a:xfrm>
            <a:off x="858520" y="2018030"/>
            <a:ext cx="2331720" cy="32893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Organic Waste</a:t>
            </a:r>
            <a:endParaRPr sz="1200" b="1" i="0">
              <a:solidFill>
                <a:srgbClr val="FFFFFF"/>
              </a:solidFill>
              <a:latin typeface="Calibri" panose="020F0502020204030204"/>
            </a:endParaRPr>
          </a:p>
        </p:txBody>
      </p:sp>
      <p:sp>
        <p:nvSpPr>
          <p:cNvPr id="13" name="TextBox 12"/>
          <p:cNvSpPr txBox="1"/>
          <p:nvPr/>
        </p:nvSpPr>
        <p:spPr>
          <a:xfrm>
            <a:off x="3200400" y="2028190"/>
            <a:ext cx="328930" cy="328930"/>
          </a:xfrm>
          <a:prstGeom prst="rect">
            <a:avLst/>
          </a:prstGeom>
          <a:noFill/>
        </p:spPr>
        <p:txBody>
          <a:bodyPr wrap="square" lIns="0" tIns="0" rIns="0" bIns="0" anchor="t">
            <a:noAutofit/>
          </a:bodyPr>
          <a:lstStyle/>
          <a:p>
            <a:pPr algn="ctr">
              <a:lnSpc>
                <a:spcPct val="100000"/>
              </a:lnSpc>
              <a:spcBef>
                <a:spcPts val="0"/>
              </a:spcBef>
              <a:spcAft>
                <a:spcPts val="0"/>
              </a:spcAft>
            </a:pPr>
            <a:r>
              <a:rPr sz="1500" b="1" i="0">
                <a:solidFill>
                  <a:srgbClr val="E99A00"/>
                </a:solidFill>
                <a:latin typeface="Calibri" panose="020F0502020204030204"/>
              </a:rPr>
              <a:t>→</a:t>
            </a:r>
            <a:endParaRPr sz="1500" b="1" i="0">
              <a:solidFill>
                <a:srgbClr val="E99A00"/>
              </a:solidFill>
              <a:latin typeface="Calibri" panose="020F0502020204030204"/>
            </a:endParaRPr>
          </a:p>
        </p:txBody>
      </p:sp>
      <p:sp>
        <p:nvSpPr>
          <p:cNvPr id="14" name="Rounded Rectangle 13"/>
          <p:cNvSpPr/>
          <p:nvPr/>
        </p:nvSpPr>
        <p:spPr>
          <a:xfrm>
            <a:off x="3529330" y="2028190"/>
            <a:ext cx="2331720" cy="32893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Anaerobic Digestion</a:t>
            </a:r>
            <a:endParaRPr sz="1200" b="1" i="0">
              <a:solidFill>
                <a:srgbClr val="FFFFFF"/>
              </a:solidFill>
              <a:latin typeface="Calibri" panose="020F0502020204030204"/>
            </a:endParaRPr>
          </a:p>
        </p:txBody>
      </p:sp>
      <p:sp>
        <p:nvSpPr>
          <p:cNvPr id="15" name="TextBox 14"/>
          <p:cNvSpPr txBox="1"/>
          <p:nvPr/>
        </p:nvSpPr>
        <p:spPr>
          <a:xfrm>
            <a:off x="5861050" y="2028190"/>
            <a:ext cx="328930" cy="328930"/>
          </a:xfrm>
          <a:prstGeom prst="rect">
            <a:avLst/>
          </a:prstGeom>
          <a:noFill/>
        </p:spPr>
        <p:txBody>
          <a:bodyPr wrap="square" lIns="0" tIns="0" rIns="0" bIns="0" anchor="t">
            <a:noAutofit/>
          </a:bodyPr>
          <a:lstStyle/>
          <a:p>
            <a:pPr algn="ctr">
              <a:lnSpc>
                <a:spcPct val="100000"/>
              </a:lnSpc>
              <a:spcBef>
                <a:spcPts val="0"/>
              </a:spcBef>
              <a:spcAft>
                <a:spcPts val="0"/>
              </a:spcAft>
            </a:pPr>
            <a:r>
              <a:rPr sz="1500" b="1" i="0">
                <a:solidFill>
                  <a:srgbClr val="E99A00"/>
                </a:solidFill>
                <a:latin typeface="Calibri" panose="020F0502020204030204"/>
              </a:rPr>
              <a:t>→</a:t>
            </a:r>
            <a:endParaRPr sz="1500" b="1" i="0">
              <a:solidFill>
                <a:srgbClr val="E99A00"/>
              </a:solidFill>
              <a:latin typeface="Calibri" panose="020F0502020204030204"/>
            </a:endParaRPr>
          </a:p>
        </p:txBody>
      </p:sp>
      <p:sp>
        <p:nvSpPr>
          <p:cNvPr id="16" name="Rounded Rectangle 15"/>
          <p:cNvSpPr/>
          <p:nvPr/>
        </p:nvSpPr>
        <p:spPr>
          <a:xfrm>
            <a:off x="6190615" y="2028190"/>
            <a:ext cx="2331720" cy="32893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Biogas</a:t>
            </a:r>
            <a:endParaRPr sz="1200" b="1" i="0">
              <a:solidFill>
                <a:srgbClr val="FFFFFF"/>
              </a:solidFill>
              <a:latin typeface="Calibri" panose="020F0502020204030204"/>
            </a:endParaRPr>
          </a:p>
        </p:txBody>
      </p:sp>
      <p:sp>
        <p:nvSpPr>
          <p:cNvPr id="17" name="TextBox 16"/>
          <p:cNvSpPr txBox="1"/>
          <p:nvPr/>
        </p:nvSpPr>
        <p:spPr>
          <a:xfrm>
            <a:off x="8522335" y="2028190"/>
            <a:ext cx="328930" cy="328930"/>
          </a:xfrm>
          <a:prstGeom prst="rect">
            <a:avLst/>
          </a:prstGeom>
          <a:noFill/>
        </p:spPr>
        <p:txBody>
          <a:bodyPr wrap="square" lIns="0" tIns="0" rIns="0" bIns="0" anchor="t">
            <a:noAutofit/>
          </a:bodyPr>
          <a:lstStyle/>
          <a:p>
            <a:pPr algn="ctr">
              <a:lnSpc>
                <a:spcPct val="100000"/>
              </a:lnSpc>
              <a:spcBef>
                <a:spcPts val="0"/>
              </a:spcBef>
              <a:spcAft>
                <a:spcPts val="0"/>
              </a:spcAft>
            </a:pPr>
            <a:r>
              <a:rPr sz="1500" b="1" i="0">
                <a:solidFill>
                  <a:srgbClr val="E99A00"/>
                </a:solidFill>
                <a:latin typeface="Calibri" panose="020F0502020204030204"/>
              </a:rPr>
              <a:t>→</a:t>
            </a:r>
            <a:endParaRPr sz="1500" b="1" i="0">
              <a:solidFill>
                <a:srgbClr val="E99A00"/>
              </a:solidFill>
              <a:latin typeface="Calibri" panose="020F0502020204030204"/>
            </a:endParaRPr>
          </a:p>
        </p:txBody>
      </p:sp>
      <p:sp>
        <p:nvSpPr>
          <p:cNvPr id="18" name="Rounded Rectangle 17"/>
          <p:cNvSpPr/>
          <p:nvPr/>
        </p:nvSpPr>
        <p:spPr>
          <a:xfrm>
            <a:off x="8851265" y="2028190"/>
            <a:ext cx="2331720" cy="32893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Clean Energy</a:t>
            </a:r>
            <a:endParaRPr sz="1200" b="1" i="0">
              <a:solidFill>
                <a:srgbClr val="FFFFFF"/>
              </a:solidFill>
              <a:latin typeface="Calibri" panose="020F0502020204030204"/>
            </a:endParaRPr>
          </a:p>
        </p:txBody>
      </p:sp>
      <p:sp>
        <p:nvSpPr>
          <p:cNvPr id="19" name="TextBox 18"/>
          <p:cNvSpPr txBox="1"/>
          <p:nvPr/>
        </p:nvSpPr>
        <p:spPr>
          <a:xfrm>
            <a:off x="868680" y="2453640"/>
            <a:ext cx="10515600" cy="365760"/>
          </a:xfrm>
          <a:prstGeom prst="rect">
            <a:avLst/>
          </a:prstGeom>
          <a:noFill/>
        </p:spPr>
        <p:txBody>
          <a:bodyPr wrap="square" lIns="0" tIns="0" rIns="0" bIns="0" anchor="t">
            <a:spAutoFit/>
          </a:bodyPr>
          <a:lstStyle/>
          <a:p>
            <a:pPr algn="l">
              <a:lnSpc>
                <a:spcPct val="100000"/>
              </a:lnSpc>
              <a:spcBef>
                <a:spcPts val="0"/>
              </a:spcBef>
              <a:spcAft>
                <a:spcPts val="100"/>
              </a:spcAft>
            </a:pPr>
            <a:r>
              <a:rPr sz="1400" b="1" i="0">
                <a:solidFill>
                  <a:srgbClr val="1B7A4E"/>
                </a:solidFill>
                <a:latin typeface="Calibri" panose="020F0502020204030204"/>
              </a:rPr>
              <a:t>How the system works</a:t>
            </a:r>
            <a:endParaRPr sz="1400" b="1" i="0">
              <a:solidFill>
                <a:srgbClr val="1B7A4E"/>
              </a:solidFill>
              <a:latin typeface="Calibri" panose="020F0502020204030204"/>
            </a:endParaRPr>
          </a:p>
        </p:txBody>
      </p:sp>
      <p:graphicFrame>
        <p:nvGraphicFramePr>
          <p:cNvPr id="20" name="Table 19"/>
          <p:cNvGraphicFramePr>
            <a:graphicFrameLocks noGrp="1"/>
          </p:cNvGraphicFramePr>
          <p:nvPr>
            <p:custDataLst>
              <p:tags r:id="rId1"/>
            </p:custDataLst>
          </p:nvPr>
        </p:nvGraphicFramePr>
        <p:xfrm>
          <a:off x="868680" y="2722880"/>
          <a:ext cx="10515600" cy="3780155"/>
        </p:xfrm>
        <a:graphic>
          <a:graphicData uri="http://schemas.openxmlformats.org/drawingml/2006/table">
            <a:tbl>
              <a:tblPr firstRow="1" bandRow="1">
                <a:tableStyleId>{5C22544A-7EE6-4342-B048-85BDC9FD1C3A}</a:tableStyleId>
              </a:tblPr>
              <a:tblGrid>
                <a:gridCol w="2194560"/>
                <a:gridCol w="4114800"/>
                <a:gridCol w="4206240"/>
              </a:tblGrid>
              <a:tr h="324485">
                <a:tc>
                  <a:txBody>
                    <a:bodyPr wrap="square"/>
                    <a:lstStyle/>
                    <a:p>
                      <a:pPr algn="ctr"/>
                      <a:r>
                        <a:rPr sz="1350" b="1" i="0">
                          <a:solidFill>
                            <a:srgbClr val="FFFFFF"/>
                          </a:solidFill>
                          <a:latin typeface="Calibri" panose="020F0502020204030204"/>
                        </a:rPr>
                        <a:t>Stages</a:t>
                      </a:r>
                      <a:endParaRPr sz="135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350" b="1" i="0">
                          <a:solidFill>
                            <a:srgbClr val="FFFFFF"/>
                          </a:solidFill>
                          <a:latin typeface="Calibri" panose="020F0502020204030204"/>
                        </a:rPr>
                        <a:t>Components</a:t>
                      </a:r>
                      <a:endParaRPr sz="135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350" b="1" i="0">
                          <a:solidFill>
                            <a:srgbClr val="FFFFFF"/>
                          </a:solidFill>
                          <a:latin typeface="Calibri" panose="020F0502020204030204"/>
                        </a:rPr>
                        <a:t>Functions</a:t>
                      </a:r>
                      <a:endParaRPr sz="1350" b="1" i="0">
                        <a:solidFill>
                          <a:srgbClr val="FFFFFF"/>
                        </a:solidFill>
                        <a:latin typeface="Calibri" panose="020F0502020204030204"/>
                      </a:endParaRPr>
                    </a:p>
                  </a:txBody>
                  <a:tcPr marL="73152" marR="73152" marT="27432" marB="27432">
                    <a:solidFill>
                      <a:srgbClr val="1B7A4E"/>
                    </a:solidFill>
                  </a:tcPr>
                </a:tc>
              </a:tr>
              <a:tr h="481965">
                <a:tc>
                  <a:txBody>
                    <a:bodyPr wrap="square"/>
                    <a:lstStyle/>
                    <a:p>
                      <a:r>
                        <a:rPr sz="1250" b="1" i="0">
                          <a:solidFill>
                            <a:srgbClr val="0E3B2E"/>
                          </a:solidFill>
                          <a:latin typeface="Calibri" panose="020F0502020204030204"/>
                        </a:rPr>
                        <a:t>Inlet plumbing</a:t>
                      </a:r>
                      <a:endParaRPr sz="1250" b="1" i="0">
                        <a:solidFill>
                          <a:srgbClr val="0E3B2E"/>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Waste collection system from toilets, kitchens and livestock farms; a mobile tank and farm hopper.</a:t>
                      </a:r>
                      <a:endParaRPr sz="1150" b="0" i="0">
                        <a:solidFill>
                          <a:srgbClr val="1A2B26"/>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Plumbing from hostels, classrooms and refectory kitchens.</a:t>
                      </a:r>
                      <a:endParaRPr sz="1150" b="0" i="0">
                        <a:solidFill>
                          <a:srgbClr val="1A2B26"/>
                        </a:solidFill>
                        <a:latin typeface="Calibri" panose="020F0502020204030204"/>
                      </a:endParaRPr>
                    </a:p>
                  </a:txBody>
                  <a:tcPr marL="82296" marR="82296">
                    <a:solidFill>
                      <a:srgbClr val="F4F9F6"/>
                    </a:solidFill>
                  </a:tcPr>
                </a:tc>
              </a:tr>
              <a:tr h="461010">
                <a:tc>
                  <a:txBody>
                    <a:bodyPr wrap="square"/>
                    <a:lstStyle/>
                    <a:p>
                      <a:r>
                        <a:rPr sz="1250" b="1" i="0">
                          <a:solidFill>
                            <a:srgbClr val="0E3B2E"/>
                          </a:solidFill>
                          <a:latin typeface="Calibri" panose="020F0502020204030204"/>
                        </a:rPr>
                        <a:t>Pre-treatment</a:t>
                      </a:r>
                      <a:endParaRPr sz="1250" b="1" i="0">
                        <a:solidFill>
                          <a:srgbClr val="0E3B2E"/>
                        </a:solidFill>
                        <a:latin typeface="Calibri" panose="020F0502020204030204"/>
                      </a:endParaRPr>
                    </a:p>
                  </a:txBody>
                  <a:tcPr marL="82296" marR="82296">
                    <a:solidFill>
                      <a:srgbClr val="FFFFFF"/>
                    </a:solidFill>
                  </a:tcPr>
                </a:tc>
                <a:tc>
                  <a:txBody>
                    <a:bodyPr wrap="square"/>
                    <a:lstStyle/>
                    <a:p>
                      <a:r>
                        <a:rPr sz="1150" b="0" i="0">
                          <a:solidFill>
                            <a:srgbClr val="1A2B26"/>
                          </a:solidFill>
                          <a:latin typeface="Calibri" panose="020F0502020204030204"/>
                        </a:rPr>
                        <a:t>Pre-filter and mixing tank.</a:t>
                      </a:r>
                      <a:endParaRPr sz="1150" b="0" i="0">
                        <a:solidFill>
                          <a:srgbClr val="1A2B26"/>
                        </a:solidFill>
                        <a:latin typeface="Calibri" panose="020F0502020204030204"/>
                      </a:endParaRPr>
                    </a:p>
                  </a:txBody>
                  <a:tcPr marL="82296" marR="82296">
                    <a:solidFill>
                      <a:srgbClr val="FFFFFF"/>
                    </a:solidFill>
                  </a:tcPr>
                </a:tc>
                <a:tc>
                  <a:txBody>
                    <a:bodyPr wrap="square"/>
                    <a:lstStyle/>
                    <a:p>
                      <a:r>
                        <a:rPr sz="1150" b="0" i="0">
                          <a:solidFill>
                            <a:srgbClr val="1A2B26"/>
                          </a:solidFill>
                          <a:latin typeface="Calibri" panose="020F0502020204030204"/>
                        </a:rPr>
                        <a:t>Removes plastics and sand; mixes waste with water for the microbes.</a:t>
                      </a:r>
                      <a:endParaRPr sz="1150" b="0" i="0">
                        <a:solidFill>
                          <a:srgbClr val="1A2B26"/>
                        </a:solidFill>
                        <a:latin typeface="Calibri" panose="020F0502020204030204"/>
                      </a:endParaRPr>
                    </a:p>
                  </a:txBody>
                  <a:tcPr marL="82296" marR="82296">
                    <a:solidFill>
                      <a:srgbClr val="FFFFFF"/>
                    </a:solidFill>
                  </a:tcPr>
                </a:tc>
              </a:tr>
              <a:tr h="482600">
                <a:tc>
                  <a:txBody>
                    <a:bodyPr wrap="square"/>
                    <a:lstStyle/>
                    <a:p>
                      <a:r>
                        <a:rPr sz="1250" b="1" i="0">
                          <a:solidFill>
                            <a:srgbClr val="0E3B2E"/>
                          </a:solidFill>
                          <a:latin typeface="Calibri" panose="020F0502020204030204"/>
                        </a:rPr>
                        <a:t>Process</a:t>
                      </a:r>
                      <a:endParaRPr sz="1250" b="1" i="0">
                        <a:solidFill>
                          <a:srgbClr val="0E3B2E"/>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Modular digestion, accelerated microbe action and temperature control.</a:t>
                      </a:r>
                      <a:endParaRPr sz="1150" b="0" i="0">
                        <a:solidFill>
                          <a:srgbClr val="1A2B26"/>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7-day gas production instead of 30 days.</a:t>
                      </a:r>
                      <a:endParaRPr sz="1150" b="0" i="0">
                        <a:solidFill>
                          <a:srgbClr val="1A2B26"/>
                        </a:solidFill>
                        <a:latin typeface="Calibri" panose="020F0502020204030204"/>
                      </a:endParaRPr>
                    </a:p>
                  </a:txBody>
                  <a:tcPr marL="82296" marR="82296">
                    <a:solidFill>
                      <a:srgbClr val="F4F9F6"/>
                    </a:solidFill>
                  </a:tcPr>
                </a:tc>
              </a:tr>
              <a:tr h="290830">
                <a:tc>
                  <a:txBody>
                    <a:bodyPr/>
                    <a:p>
                      <a:pPr>
                        <a:buNone/>
                      </a:pPr>
                      <a:r>
                        <a:rPr lang="en-US" altLang="en-GB" sz="1250" b="1" i="0">
                          <a:solidFill>
                            <a:srgbClr val="0E3B2E"/>
                          </a:solidFill>
                          <a:latin typeface="Calibri" panose="020F0502020204030204"/>
                        </a:rPr>
                        <a:t>Gas Collection</a:t>
                      </a:r>
                      <a:endParaRPr lang="en-US" altLang="en-GB" sz="1250" b="1" i="0">
                        <a:solidFill>
                          <a:srgbClr val="0E3B2E"/>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Gas outlets pipes and gas passage networks</a:t>
                      </a:r>
                      <a:endParaRPr lang="en-US" altLang="en-GB" sz="1150" b="0" i="0">
                        <a:solidFill>
                          <a:srgbClr val="1A2B26"/>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Channels carry raw biogas from digester</a:t>
                      </a:r>
                      <a:endParaRPr lang="en-US" altLang="en-GB" sz="1150" b="0" i="0">
                        <a:solidFill>
                          <a:srgbClr val="1A2B26"/>
                        </a:solidFill>
                        <a:latin typeface="Calibri" panose="020F0502020204030204"/>
                      </a:endParaRPr>
                    </a:p>
                  </a:txBody>
                  <a:tcPr marL="82296" marR="82296">
                    <a:solidFill>
                      <a:srgbClr val="F4F9F6"/>
                    </a:solidFill>
                  </a:tcPr>
                </a:tc>
              </a:tr>
              <a:tr h="301625">
                <a:tc>
                  <a:txBody>
                    <a:bodyPr/>
                    <a:p>
                      <a:pPr>
                        <a:buNone/>
                      </a:pPr>
                      <a:r>
                        <a:rPr lang="en-US" altLang="en-GB" sz="1250" b="1" i="0">
                          <a:solidFill>
                            <a:srgbClr val="0E3B2E"/>
                          </a:solidFill>
                          <a:latin typeface="Calibri" panose="020F0502020204030204"/>
                        </a:rPr>
                        <a:t>Purification</a:t>
                      </a:r>
                      <a:endParaRPr lang="en-US" altLang="en-GB" sz="1250" b="1" i="0">
                        <a:solidFill>
                          <a:srgbClr val="0E3B2E"/>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Water scrubber or condensation trap and H2s Filter</a:t>
                      </a:r>
                      <a:endParaRPr lang="en-US" altLang="en-GB" sz="1150" b="0" i="0">
                        <a:solidFill>
                          <a:srgbClr val="1A2B26"/>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Removes water vapour and H2S Impurities </a:t>
                      </a:r>
                      <a:endParaRPr lang="en-US" altLang="en-GB" sz="1150" b="0" i="0">
                        <a:solidFill>
                          <a:srgbClr val="1A2B26"/>
                        </a:solidFill>
                        <a:latin typeface="Calibri" panose="020F0502020204030204"/>
                      </a:endParaRPr>
                    </a:p>
                  </a:txBody>
                  <a:tcPr marL="82296" marR="82296">
                    <a:solidFill>
                      <a:srgbClr val="F4F9F6"/>
                    </a:solidFill>
                  </a:tcPr>
                </a:tc>
              </a:tr>
              <a:tr h="344170">
                <a:tc>
                  <a:txBody>
                    <a:bodyPr/>
                    <a:p>
                      <a:pPr>
                        <a:buNone/>
                      </a:pPr>
                      <a:r>
                        <a:rPr lang="en-US" altLang="en-GB" sz="1250" b="1" i="0">
                          <a:solidFill>
                            <a:srgbClr val="0E3B2E"/>
                          </a:solidFill>
                          <a:latin typeface="Calibri" panose="020F0502020204030204"/>
                        </a:rPr>
                        <a:t>Storage</a:t>
                      </a:r>
                      <a:endParaRPr lang="en-US" altLang="en-GB" sz="1250" b="1" i="0">
                        <a:solidFill>
                          <a:srgbClr val="0E3B2E"/>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Low pressure, Gas storage bags</a:t>
                      </a:r>
                      <a:endParaRPr lang="en-US" altLang="en-GB" sz="1150" b="0" i="0">
                        <a:solidFill>
                          <a:srgbClr val="1A2B26"/>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Stores clean biogas</a:t>
                      </a:r>
                      <a:endParaRPr lang="en-US" altLang="en-GB" sz="1150" b="0" i="0">
                        <a:solidFill>
                          <a:srgbClr val="1A2B26"/>
                        </a:solidFill>
                        <a:latin typeface="Calibri" panose="020F0502020204030204"/>
                      </a:endParaRPr>
                    </a:p>
                  </a:txBody>
                  <a:tcPr marL="82296" marR="82296">
                    <a:solidFill>
                      <a:srgbClr val="F4F9F6"/>
                    </a:solidFill>
                  </a:tcPr>
                </a:tc>
              </a:tr>
              <a:tr h="282575">
                <a:tc>
                  <a:txBody>
                    <a:bodyPr/>
                    <a:p>
                      <a:pPr>
                        <a:buNone/>
                      </a:pPr>
                      <a:r>
                        <a:rPr lang="en-US" altLang="en-GB" sz="1250" b="1" i="0">
                          <a:solidFill>
                            <a:srgbClr val="0E3B2E"/>
                          </a:solidFill>
                          <a:latin typeface="Calibri" panose="020F0502020204030204"/>
                        </a:rPr>
                        <a:t>Distribution</a:t>
                      </a:r>
                      <a:endParaRPr lang="en-US" altLang="en-GB" sz="1250" b="1" i="0">
                        <a:solidFill>
                          <a:srgbClr val="0E3B2E"/>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HDPE Gas pipeline to connection point</a:t>
                      </a:r>
                      <a:endParaRPr lang="en-US" altLang="en-GB" sz="1150" b="0" i="0">
                        <a:solidFill>
                          <a:srgbClr val="1A2B26"/>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Piped to kitchen/generator point using your biogas converter kit </a:t>
                      </a:r>
                      <a:endParaRPr lang="en-US" altLang="en-GB" sz="1150" b="0" i="0">
                        <a:solidFill>
                          <a:srgbClr val="1A2B26"/>
                        </a:solidFill>
                        <a:latin typeface="Calibri" panose="020F0502020204030204"/>
                      </a:endParaRPr>
                    </a:p>
                  </a:txBody>
                  <a:tcPr marL="82296" marR="82296">
                    <a:solidFill>
                      <a:srgbClr val="F4F9F6"/>
                    </a:solidFill>
                  </a:tcPr>
                </a:tc>
              </a:tr>
              <a:tr h="367665">
                <a:tc>
                  <a:txBody>
                    <a:bodyPr/>
                    <a:p>
                      <a:pPr>
                        <a:buNone/>
                      </a:pPr>
                      <a:r>
                        <a:rPr lang="en-US" altLang="en-GB" sz="1250" b="1" i="0">
                          <a:solidFill>
                            <a:srgbClr val="0E3B2E"/>
                          </a:solidFill>
                          <a:latin typeface="Calibri" panose="020F0502020204030204"/>
                        </a:rPr>
                        <a:t>Residue</a:t>
                      </a:r>
                      <a:endParaRPr lang="en-US" altLang="en-GB" sz="1250" b="1" i="0">
                        <a:solidFill>
                          <a:srgbClr val="0E3B2E"/>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Slurry outlet and drying bed</a:t>
                      </a:r>
                      <a:endParaRPr lang="en-US" altLang="en-GB" sz="1150" b="0" i="0">
                        <a:solidFill>
                          <a:srgbClr val="1A2B26"/>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For drying and collecting organic fertilisers</a:t>
                      </a:r>
                      <a:endParaRPr lang="en-US" altLang="en-GB" sz="1150" b="0" i="0">
                        <a:solidFill>
                          <a:srgbClr val="1A2B26"/>
                        </a:solidFill>
                        <a:latin typeface="Calibri" panose="020F0502020204030204"/>
                      </a:endParaRPr>
                    </a:p>
                  </a:txBody>
                  <a:tcPr marL="82296" marR="82296">
                    <a:solidFill>
                      <a:srgbClr val="F4F9F6"/>
                    </a:solidFill>
                  </a:tcPr>
                </a:tc>
              </a:tr>
              <a:tr h="443230">
                <a:tc>
                  <a:txBody>
                    <a:bodyPr/>
                    <a:p>
                      <a:pPr>
                        <a:buNone/>
                      </a:pPr>
                      <a:r>
                        <a:rPr lang="en-US" altLang="en-GB" sz="1250" b="1" i="0">
                          <a:solidFill>
                            <a:srgbClr val="0E3B2E"/>
                          </a:solidFill>
                          <a:latin typeface="Calibri" panose="020F0502020204030204"/>
                        </a:rPr>
                        <a:t>Monitoring Sytems</a:t>
                      </a:r>
                      <a:endParaRPr lang="en-US" altLang="en-GB" sz="1250" b="1" i="0">
                        <a:solidFill>
                          <a:srgbClr val="0E3B2E"/>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IoT Sensors, AI and Mobile app</a:t>
                      </a:r>
                      <a:endParaRPr lang="en-US" altLang="en-GB" sz="1150" b="0" i="0">
                        <a:solidFill>
                          <a:srgbClr val="1A2B26"/>
                        </a:solidFill>
                        <a:latin typeface="Calibri" panose="020F0502020204030204"/>
                      </a:endParaRPr>
                    </a:p>
                  </a:txBody>
                  <a:tcPr marL="82296" marR="82296">
                    <a:solidFill>
                      <a:srgbClr val="F4F9F6"/>
                    </a:solidFill>
                  </a:tcPr>
                </a:tc>
                <a:tc>
                  <a:txBody>
                    <a:bodyPr/>
                    <a:p>
                      <a:pPr>
                        <a:buNone/>
                      </a:pPr>
                      <a:r>
                        <a:rPr lang="en-US" altLang="en-GB" sz="1150" b="0" i="0">
                          <a:solidFill>
                            <a:srgbClr val="1A2B26"/>
                          </a:solidFill>
                          <a:latin typeface="Calibri" panose="020F0502020204030204"/>
                        </a:rPr>
                        <a:t>For monitoring gas pressure, temperature levels and sends alert to mobile apps</a:t>
                      </a:r>
                      <a:endParaRPr lang="en-US" altLang="en-GB" sz="1150" b="0" i="0">
                        <a:solidFill>
                          <a:srgbClr val="1A2B26"/>
                        </a:solidFill>
                        <a:latin typeface="Calibri" panose="020F0502020204030204"/>
                      </a:endParaRPr>
                    </a:p>
                  </a:txBody>
                  <a:tcPr marL="82296" marR="82296">
                    <a:solidFill>
                      <a:srgbClr val="F4F9F6"/>
                    </a:solidFill>
                  </a:tcPr>
                </a:tc>
              </a:tr>
            </a:tbl>
          </a:graphicData>
        </a:graphic>
      </p:graphicFrame>
      <p:sp>
        <p:nvSpPr>
          <p:cNvPr id="22" name="TextBox 7"/>
          <p:cNvSpPr txBox="1"/>
          <p:nvPr/>
        </p:nvSpPr>
        <p:spPr>
          <a:xfrm>
            <a:off x="868680" y="653110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aseline="-25000"/>
              <a:t>--</a:t>
            </a:r>
            <a:endParaRPr lang="en-US" baseline="-25000"/>
          </a:p>
        </p:txBody>
      </p:sp>
      <p:sp>
        <p:nvSpPr>
          <p:cNvPr id="3" name="Rounded Rectangle 2"/>
          <p:cNvSpPr/>
          <p:nvPr/>
        </p:nvSpPr>
        <p:spPr>
          <a:xfrm>
            <a:off x="548640" y="4013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PLAN</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600" b="1" i="0">
                <a:solidFill>
                  <a:srgbClr val="0E3B2E"/>
                </a:solidFill>
                <a:latin typeface="Calibri" panose="020F0502020204030204"/>
              </a:rPr>
              <a:t>Project Cost and Funding Plan</a:t>
            </a:r>
            <a:endParaRPr sz="2600" b="1" i="0">
              <a:solidFill>
                <a:srgbClr val="0E3B2E"/>
              </a:solidFill>
              <a:latin typeface="Calibri" panose="020F0502020204030204"/>
            </a:endParaRPr>
          </a:p>
        </p:txBody>
      </p:sp>
      <p:sp>
        <p:nvSpPr>
          <p:cNvPr id="6" name="Rectangle 5"/>
          <p:cNvSpPr/>
          <p:nvPr/>
        </p:nvSpPr>
        <p:spPr>
          <a:xfrm>
            <a:off x="868680" y="11653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3225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07</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graphicFrame>
        <p:nvGraphicFramePr>
          <p:cNvPr id="20" name="Table 19"/>
          <p:cNvGraphicFramePr>
            <a:graphicFrameLocks noGrp="1"/>
          </p:cNvGraphicFramePr>
          <p:nvPr>
            <p:custDataLst>
              <p:tags r:id="rId1"/>
            </p:custDataLst>
          </p:nvPr>
        </p:nvGraphicFramePr>
        <p:xfrm>
          <a:off x="868680" y="1227582"/>
          <a:ext cx="10583545" cy="2423160"/>
        </p:xfrm>
        <a:graphic>
          <a:graphicData uri="http://schemas.openxmlformats.org/drawingml/2006/table">
            <a:tbl>
              <a:tblPr firstRow="1" bandRow="1">
                <a:tableStyleId>{5C22544A-7EE6-4342-B048-85BDC9FD1C3A}</a:tableStyleId>
              </a:tblPr>
              <a:tblGrid>
                <a:gridCol w="5018405"/>
                <a:gridCol w="3135630"/>
                <a:gridCol w="2429510"/>
              </a:tblGrid>
              <a:tr h="411480">
                <a:tc>
                  <a:txBody>
                    <a:bodyPr wrap="square"/>
                    <a:lstStyle/>
                    <a:p>
                      <a:pPr algn="ctr"/>
                      <a:r>
                        <a:rPr sz="1800" b="1" i="0">
                          <a:solidFill>
                            <a:srgbClr val="FFFFFF"/>
                          </a:solidFill>
                          <a:latin typeface="Calibri" panose="020F0502020204030204"/>
                        </a:rPr>
                        <a:t>Stages</a:t>
                      </a:r>
                      <a:endParaRPr sz="180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800" b="1" i="0">
                          <a:solidFill>
                            <a:srgbClr val="FFFFFF"/>
                          </a:solidFill>
                          <a:latin typeface="Calibri" panose="020F0502020204030204"/>
                        </a:rPr>
                        <a:t>Components</a:t>
                      </a:r>
                      <a:endParaRPr sz="180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800" b="1" i="0">
                          <a:solidFill>
                            <a:srgbClr val="FFFFFF"/>
                          </a:solidFill>
                          <a:latin typeface="Calibri" panose="020F0502020204030204"/>
                        </a:rPr>
                        <a:t>Functions</a:t>
                      </a:r>
                      <a:endParaRPr sz="1800" b="1" i="0">
                        <a:solidFill>
                          <a:srgbClr val="FFFFFF"/>
                        </a:solidFill>
                        <a:latin typeface="Calibri" panose="020F0502020204030204"/>
                      </a:endParaRPr>
                    </a:p>
                  </a:txBody>
                  <a:tcPr marL="73152" marR="73152" marT="27432" marB="27432">
                    <a:solidFill>
                      <a:srgbClr val="1B7A4E"/>
                    </a:solidFill>
                  </a:tcPr>
                </a:tc>
              </a:tr>
              <a:tr h="345440">
                <a:tc>
                  <a:txBody>
                    <a:bodyPr wrap="square"/>
                    <a:lstStyle/>
                    <a:p>
                      <a:r>
                        <a:rPr lang="en-US" sz="1800" b="1" i="0">
                          <a:solidFill>
                            <a:srgbClr val="0E3B2E"/>
                          </a:solidFill>
                          <a:latin typeface="Calibri" panose="020F0502020204030204"/>
                        </a:rPr>
                        <a:t>Equipments And Materials</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₦1,870,000</a:t>
                      </a:r>
                      <a:endParaRPr lang="en-US" altLang="en-US" sz="1800" b="0" i="0">
                        <a:solidFill>
                          <a:srgbClr val="1A2B26"/>
                        </a:solidFill>
                        <a:latin typeface="Calibri" panose="020F0502020204030204"/>
                      </a:endParaRPr>
                    </a:p>
                  </a:txBody>
                  <a:tcPr marL="82296" marR="82296">
                    <a:solidFill>
                      <a:srgbClr val="F4F9F6"/>
                    </a:solidFill>
                  </a:tcPr>
                </a:tc>
                <a:tc>
                  <a:txBody>
                    <a:bodyPr wrap="square"/>
                    <a:lstStyle/>
                    <a:p>
                      <a:r>
                        <a:rPr lang="en-US" sz="1800" b="0" i="0">
                          <a:solidFill>
                            <a:srgbClr val="1A2B26"/>
                          </a:solidFill>
                          <a:latin typeface="Calibri" panose="020F0502020204030204"/>
                        </a:rPr>
                        <a:t>70%</a:t>
                      </a:r>
                      <a:r>
                        <a:rPr sz="1800" b="0" i="0">
                          <a:solidFill>
                            <a:srgbClr val="1A2B26"/>
                          </a:solidFill>
                          <a:latin typeface="Calibri" panose="020F0502020204030204"/>
                        </a:rPr>
                        <a:t>.</a:t>
                      </a:r>
                      <a:endParaRPr sz="1800" b="0" i="0">
                        <a:solidFill>
                          <a:srgbClr val="1A2B26"/>
                        </a:solidFill>
                        <a:latin typeface="Calibri" panose="020F0502020204030204"/>
                      </a:endParaRPr>
                    </a:p>
                  </a:txBody>
                  <a:tcPr marL="82296" marR="82296">
                    <a:solidFill>
                      <a:srgbClr val="F4F9F6"/>
                    </a:solidFill>
                  </a:tcPr>
                </a:tc>
              </a:tr>
              <a:tr h="493776">
                <a:tc>
                  <a:txBody>
                    <a:bodyPr wrap="square"/>
                    <a:lstStyle/>
                    <a:p>
                      <a:r>
                        <a:rPr lang="en-US" sz="1800" b="1" i="0">
                          <a:solidFill>
                            <a:srgbClr val="0E3B2E"/>
                          </a:solidFill>
                          <a:latin typeface="Calibri" panose="020F0502020204030204"/>
                        </a:rPr>
                        <a:t>Installation and labour- Engineers, Plumbing, Safety testing, Labourers.</a:t>
                      </a:r>
                      <a:endParaRPr lang="en-US" sz="1800" b="1" i="0">
                        <a:solidFill>
                          <a:srgbClr val="0E3B2E"/>
                        </a:solidFill>
                        <a:latin typeface="Calibri" panose="020F0502020204030204"/>
                      </a:endParaRPr>
                    </a:p>
                  </a:txBody>
                  <a:tcPr marL="82296" marR="82296">
                    <a:solidFill>
                      <a:srgbClr val="FFFFFF"/>
                    </a:solidFill>
                  </a:tcPr>
                </a:tc>
                <a:tc>
                  <a:txBody>
                    <a:bodyPr wrap="square"/>
                    <a:lstStyle/>
                    <a:p>
                      <a:r>
                        <a:rPr lang="en-US" altLang="en-US" sz="1800" b="0" i="0">
                          <a:solidFill>
                            <a:srgbClr val="1A2B26"/>
                          </a:solidFill>
                          <a:latin typeface="Calibri" panose="020F0502020204030204"/>
                        </a:rPr>
                        <a:t>₦580,000</a:t>
                      </a:r>
                      <a:endParaRPr lang="en-US" altLang="en-US" sz="1800" b="0" i="0">
                        <a:solidFill>
                          <a:srgbClr val="1A2B26"/>
                        </a:solidFill>
                        <a:latin typeface="Calibri" panose="020F0502020204030204"/>
                      </a:endParaRPr>
                    </a:p>
                  </a:txBody>
                  <a:tcPr marL="82296" marR="82296">
                    <a:solidFill>
                      <a:srgbClr val="FFFFFF"/>
                    </a:solidFill>
                  </a:tcPr>
                </a:tc>
                <a:tc>
                  <a:txBody>
                    <a:bodyPr wrap="square"/>
                    <a:lstStyle/>
                    <a:p>
                      <a:r>
                        <a:rPr lang="en-US" sz="1800" b="0" i="0">
                          <a:solidFill>
                            <a:srgbClr val="1A2B26"/>
                          </a:solidFill>
                          <a:latin typeface="Calibri" panose="020F0502020204030204"/>
                        </a:rPr>
                        <a:t>21%</a:t>
                      </a:r>
                      <a:endParaRPr lang="en-US" sz="1800" b="0" i="0">
                        <a:solidFill>
                          <a:srgbClr val="1A2B26"/>
                        </a:solidFill>
                        <a:latin typeface="Calibri" panose="020F0502020204030204"/>
                      </a:endParaRPr>
                    </a:p>
                  </a:txBody>
                  <a:tcPr marL="82296" marR="82296">
                    <a:solidFill>
                      <a:srgbClr val="FFFFFF"/>
                    </a:solidFill>
                  </a:tcPr>
                </a:tc>
              </a:tr>
              <a:tr h="493776">
                <a:tc>
                  <a:txBody>
                    <a:bodyPr wrap="square"/>
                    <a:lstStyle/>
                    <a:p>
                      <a:r>
                        <a:rPr lang="en-US" sz="1800" b="1" i="0">
                          <a:solidFill>
                            <a:srgbClr val="0E3B2E"/>
                          </a:solidFill>
                          <a:latin typeface="Calibri" panose="020F0502020204030204"/>
                        </a:rPr>
                        <a:t>Contingency and setup permits, Microbes, App monitoring, </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₦230,000</a:t>
                      </a:r>
                      <a:endParaRPr lang="en-US" altLang="en-US" sz="1800" b="0" i="0">
                        <a:solidFill>
                          <a:srgbClr val="1A2B26"/>
                        </a:solidFill>
                        <a:latin typeface="Calibri" panose="020F0502020204030204"/>
                      </a:endParaRPr>
                    </a:p>
                  </a:txBody>
                  <a:tcPr marL="82296" marR="82296">
                    <a:solidFill>
                      <a:srgbClr val="F4F9F6"/>
                    </a:solidFill>
                  </a:tcPr>
                </a:tc>
                <a:tc>
                  <a:txBody>
                    <a:bodyPr wrap="square"/>
                    <a:lstStyle/>
                    <a:p>
                      <a:r>
                        <a:rPr sz="1800" b="0" i="0">
                          <a:solidFill>
                            <a:srgbClr val="1A2B26"/>
                          </a:solidFill>
                          <a:latin typeface="Calibri" panose="020F0502020204030204"/>
                        </a:rPr>
                        <a:t>7-day gas production instead of 30 days.</a:t>
                      </a:r>
                      <a:endParaRPr sz="1800" b="0" i="0">
                        <a:solidFill>
                          <a:srgbClr val="1A2B26"/>
                        </a:solidFill>
                        <a:latin typeface="Calibri" panose="020F0502020204030204"/>
                      </a:endParaRPr>
                    </a:p>
                  </a:txBody>
                  <a:tcPr marL="82296" marR="82296">
                    <a:solidFill>
                      <a:srgbClr val="F4F9F6"/>
                    </a:solidFill>
                  </a:tcPr>
                </a:tc>
              </a:tr>
              <a:tr h="278765">
                <a:tc>
                  <a:txBody>
                    <a:bodyPr/>
                    <a:p>
                      <a:pPr>
                        <a:buNone/>
                      </a:pPr>
                      <a:r>
                        <a:rPr lang="en-US" altLang="en-US" sz="1800" b="1" i="0">
                          <a:solidFill>
                            <a:srgbClr val="0E3B2E"/>
                          </a:solidFill>
                          <a:latin typeface="Calibri" panose="020F0502020204030204"/>
                        </a:rPr>
                        <a:t>Total CAPEX</a:t>
                      </a:r>
                      <a:endParaRPr lang="en-US" altLang="en-US" sz="1800" b="1" i="0">
                        <a:solidFill>
                          <a:srgbClr val="0E3B2E"/>
                        </a:solidFill>
                        <a:latin typeface="Calibri" panose="020F0502020204030204"/>
                      </a:endParaRPr>
                    </a:p>
                  </a:txBody>
                  <a:tcPr marL="82296" marR="82296">
                    <a:solidFill>
                      <a:srgbClr val="F4F9F6"/>
                    </a:solidFill>
                  </a:tcPr>
                </a:tc>
                <a:tc>
                  <a:txBody>
                    <a:bodyPr/>
                    <a:p>
                      <a:pPr>
                        <a:buNone/>
                      </a:pPr>
                      <a:r>
                        <a:rPr lang="en-US" altLang="en-US" sz="1800" b="0" i="0">
                          <a:solidFill>
                            <a:srgbClr val="1A2B26"/>
                          </a:solidFill>
                          <a:latin typeface="Calibri" panose="020F0502020204030204"/>
                        </a:rPr>
                        <a:t>₦2,650,000</a:t>
                      </a:r>
                      <a:endParaRPr lang="en-US" altLang="en-US" sz="1800" b="0" i="0">
                        <a:solidFill>
                          <a:srgbClr val="1A2B26"/>
                        </a:solidFill>
                        <a:latin typeface="Calibri" panose="020F0502020204030204"/>
                      </a:endParaRPr>
                    </a:p>
                  </a:txBody>
                  <a:tcPr marL="82296" marR="82296">
                    <a:solidFill>
                      <a:srgbClr val="F4F9F6"/>
                    </a:solidFill>
                  </a:tcPr>
                </a:tc>
                <a:tc>
                  <a:txBody>
                    <a:bodyPr/>
                    <a:p>
                      <a:pPr>
                        <a:buNone/>
                      </a:pPr>
                      <a:r>
                        <a:rPr lang="en-US" altLang="en-GB" sz="1800" b="0" i="0">
                          <a:solidFill>
                            <a:srgbClr val="1A2B26"/>
                          </a:solidFill>
                          <a:latin typeface="Calibri" panose="020F0502020204030204"/>
                        </a:rPr>
                        <a:t>100%</a:t>
                      </a:r>
                      <a:endParaRPr lang="en-US" altLang="en-GB" sz="1800" b="0" i="0">
                        <a:solidFill>
                          <a:srgbClr val="1A2B26"/>
                        </a:solidFill>
                        <a:latin typeface="Calibri" panose="020F0502020204030204"/>
                      </a:endParaRPr>
                    </a:p>
                  </a:txBody>
                  <a:tcPr marL="82296" marR="82296">
                    <a:solidFill>
                      <a:srgbClr val="F4F9F6"/>
                    </a:solidFill>
                  </a:tcPr>
                </a:tc>
              </a:tr>
            </a:tbl>
          </a:graphicData>
        </a:graphic>
      </p:graphicFrame>
      <p:graphicFrame>
        <p:nvGraphicFramePr>
          <p:cNvPr id="16" name="Table 15"/>
          <p:cNvGraphicFramePr>
            <a:graphicFrameLocks noGrp="1"/>
          </p:cNvGraphicFramePr>
          <p:nvPr>
            <p:custDataLst>
              <p:tags r:id="rId2"/>
            </p:custDataLst>
          </p:nvPr>
        </p:nvGraphicFramePr>
        <p:xfrm>
          <a:off x="868680" y="4407408"/>
          <a:ext cx="10583545" cy="1874520"/>
        </p:xfrm>
        <a:graphic>
          <a:graphicData uri="http://schemas.openxmlformats.org/drawingml/2006/table">
            <a:tbl>
              <a:tblPr firstRow="1" bandRow="1">
                <a:tableStyleId>{5C22544A-7EE6-4342-B048-85BDC9FD1C3A}</a:tableStyleId>
              </a:tblPr>
              <a:tblGrid>
                <a:gridCol w="5018405"/>
                <a:gridCol w="5362575"/>
              </a:tblGrid>
              <a:tr h="411480">
                <a:tc>
                  <a:txBody>
                    <a:bodyPr wrap="square"/>
                    <a:lstStyle/>
                    <a:p>
                      <a:pPr algn="ctr"/>
                      <a:r>
                        <a:rPr sz="1800" b="1" i="0">
                          <a:solidFill>
                            <a:srgbClr val="FFFFFF"/>
                          </a:solidFill>
                          <a:latin typeface="Calibri" panose="020F0502020204030204"/>
                        </a:rPr>
                        <a:t>Stages</a:t>
                      </a:r>
                      <a:endParaRPr sz="180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800" b="1" i="0">
                          <a:solidFill>
                            <a:srgbClr val="FFFFFF"/>
                          </a:solidFill>
                          <a:latin typeface="Calibri" panose="020F0502020204030204"/>
                        </a:rPr>
                        <a:t>Components</a:t>
                      </a:r>
                      <a:endParaRPr sz="1800" b="1" i="0">
                        <a:solidFill>
                          <a:srgbClr val="FFFFFF"/>
                        </a:solidFill>
                        <a:latin typeface="Calibri" panose="020F0502020204030204"/>
                      </a:endParaRPr>
                    </a:p>
                  </a:txBody>
                  <a:tcPr marL="73152" marR="73152" marT="27432" marB="27432">
                    <a:solidFill>
                      <a:srgbClr val="1B7A4E"/>
                    </a:solidFill>
                  </a:tcPr>
                </a:tc>
              </a:tr>
              <a:tr h="484632">
                <a:tc>
                  <a:txBody>
                    <a:bodyPr wrap="square"/>
                    <a:lstStyle/>
                    <a:p>
                      <a:r>
                        <a:rPr lang="en-US" sz="1800" b="1" i="0">
                          <a:solidFill>
                            <a:srgbClr val="0E3B2E"/>
                          </a:solidFill>
                          <a:latin typeface="Calibri" panose="020F0502020204030204"/>
                        </a:rPr>
                        <a:t>Winning the National Head Girl Prize</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₦1,000,000</a:t>
                      </a:r>
                      <a:endParaRPr lang="en-US" altLang="en-US" sz="1800" b="0" i="0">
                        <a:solidFill>
                          <a:srgbClr val="1A2B26"/>
                        </a:solidFill>
                        <a:latin typeface="Calibri" panose="020F0502020204030204"/>
                      </a:endParaRPr>
                    </a:p>
                  </a:txBody>
                  <a:tcPr marL="82296" marR="82296">
                    <a:solidFill>
                      <a:srgbClr val="F4F9F6"/>
                    </a:solidFill>
                  </a:tcPr>
                </a:tc>
              </a:tr>
              <a:tr h="484632">
                <a:tc>
                  <a:txBody>
                    <a:bodyPr wrap="square"/>
                    <a:lstStyle/>
                    <a:p>
                      <a:r>
                        <a:rPr lang="en-US" sz="1800" b="1" i="0">
                          <a:solidFill>
                            <a:srgbClr val="0E3B2E"/>
                          </a:solidFill>
                          <a:latin typeface="Calibri" panose="020F0502020204030204"/>
                        </a:rPr>
                        <a:t>School Management and P.T.A + CSR Patners.</a:t>
                      </a:r>
                      <a:endParaRPr lang="en-US" sz="1800" b="1" i="0">
                        <a:solidFill>
                          <a:srgbClr val="0E3B2E"/>
                        </a:solidFill>
                        <a:latin typeface="Calibri" panose="020F0502020204030204"/>
                      </a:endParaRPr>
                    </a:p>
                  </a:txBody>
                  <a:tcPr marL="82296" marR="82296">
                    <a:solidFill>
                      <a:srgbClr val="FFFFFF"/>
                    </a:solidFill>
                  </a:tcPr>
                </a:tc>
                <a:tc>
                  <a:txBody>
                    <a:bodyPr wrap="square"/>
                    <a:lstStyle/>
                    <a:p>
                      <a:r>
                        <a:rPr lang="en-US" altLang="en-US" sz="1800" b="0" i="0">
                          <a:solidFill>
                            <a:srgbClr val="1A2B26"/>
                          </a:solidFill>
                          <a:latin typeface="Calibri" panose="020F0502020204030204"/>
                        </a:rPr>
                        <a:t>₦1,650,000</a:t>
                      </a:r>
                      <a:endParaRPr lang="en-US" altLang="en-US" sz="1800" b="0" i="0">
                        <a:solidFill>
                          <a:srgbClr val="1A2B26"/>
                        </a:solidFill>
                        <a:latin typeface="Calibri" panose="020F0502020204030204"/>
                      </a:endParaRPr>
                    </a:p>
                  </a:txBody>
                  <a:tcPr marL="82296" marR="82296">
                    <a:solidFill>
                      <a:srgbClr val="FFFFFF"/>
                    </a:solidFill>
                  </a:tcPr>
                </a:tc>
              </a:tr>
              <a:tr h="493776">
                <a:tc>
                  <a:txBody>
                    <a:bodyPr wrap="square"/>
                    <a:lstStyle/>
                    <a:p>
                      <a:r>
                        <a:rPr lang="en-US" sz="1800" b="1" i="0">
                          <a:solidFill>
                            <a:srgbClr val="0E3B2E"/>
                          </a:solidFill>
                          <a:latin typeface="Calibri" panose="020F0502020204030204"/>
                        </a:rPr>
                        <a:t>Total</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₦2,650,000</a:t>
                      </a:r>
                      <a:endParaRPr lang="en-US" altLang="en-US" sz="1800" b="0" i="0">
                        <a:solidFill>
                          <a:srgbClr val="1A2B26"/>
                        </a:solidFill>
                        <a:latin typeface="Calibri" panose="020F0502020204030204"/>
                      </a:endParaRPr>
                    </a:p>
                  </a:txBody>
                  <a:tcPr marL="82296" marR="82296">
                    <a:solidFill>
                      <a:srgbClr val="F4F9F6"/>
                    </a:solidFill>
                  </a:tcPr>
                </a:tc>
              </a:tr>
            </a:tbl>
          </a:graphicData>
        </a:graphic>
      </p:graphicFrame>
      <p:sp>
        <p:nvSpPr>
          <p:cNvPr id="17" name="Text Box 16"/>
          <p:cNvSpPr txBox="1"/>
          <p:nvPr/>
        </p:nvSpPr>
        <p:spPr>
          <a:xfrm>
            <a:off x="0" y="0"/>
            <a:ext cx="309880" cy="368300"/>
          </a:xfrm>
          <a:prstGeom prst="rect">
            <a:avLst/>
          </a:prstGeom>
          <a:noFill/>
        </p:spPr>
        <p:txBody>
          <a:bodyPr wrap="none" rtlCol="0">
            <a:spAutoFit/>
          </a:bodyPr>
          <a:p>
            <a:endParaRPr lang="en-GB" altLang="en-US"/>
          </a:p>
        </p:txBody>
      </p:sp>
      <p:sp>
        <p:nvSpPr>
          <p:cNvPr id="18" name="Text Box 17"/>
          <p:cNvSpPr txBox="1"/>
          <p:nvPr/>
        </p:nvSpPr>
        <p:spPr>
          <a:xfrm>
            <a:off x="868680" y="3778757"/>
            <a:ext cx="6530975" cy="482600"/>
          </a:xfrm>
          <a:prstGeom prst="rect">
            <a:avLst/>
          </a:prstGeom>
          <a:noFill/>
        </p:spPr>
        <p:txBody>
          <a:bodyPr wrap="square" rtlCol="0">
            <a:spAutoFit/>
          </a:bodyPr>
          <a:p>
            <a:pPr algn="l">
              <a:lnSpc>
                <a:spcPct val="98000"/>
              </a:lnSpc>
              <a:spcBef>
                <a:spcPts val="0"/>
              </a:spcBef>
              <a:spcAft>
                <a:spcPts val="0"/>
              </a:spcAft>
            </a:pPr>
            <a:r>
              <a:rPr sz="2600" b="1">
                <a:solidFill>
                  <a:srgbClr val="0E3B2E"/>
                </a:solidFill>
                <a:latin typeface="Calibri" panose="020F0502020204030204"/>
                <a:sym typeface="+mn-ea"/>
              </a:rPr>
              <a:t>F</a:t>
            </a:r>
            <a:r>
              <a:rPr lang="en-US" sz="2600" b="1">
                <a:solidFill>
                  <a:srgbClr val="0E3B2E"/>
                </a:solidFill>
                <a:latin typeface="Calibri" panose="020F0502020204030204"/>
                <a:sym typeface="+mn-ea"/>
              </a:rPr>
              <a:t>unding Strategy</a:t>
            </a:r>
            <a:endParaRPr lang="en-US" sz="2600" b="1">
              <a:solidFill>
                <a:srgbClr val="0E3B2E"/>
              </a:solidFill>
              <a:latin typeface="Calibri" panose="020F0502020204030204"/>
              <a:sym typeface="+mn-ea"/>
            </a:endParaRPr>
          </a:p>
        </p:txBody>
      </p:sp>
      <p:sp>
        <p:nvSpPr>
          <p:cNvPr id="9" name="Rectangle 5"/>
          <p:cNvSpPr/>
          <p:nvPr/>
        </p:nvSpPr>
        <p:spPr>
          <a:xfrm>
            <a:off x="868680" y="419938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6910" y="3806190"/>
            <a:ext cx="150495" cy="464185"/>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BUSINESS CASE</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Financial Viability and Sustainability</a:t>
            </a:r>
            <a:endParaRPr sz="3000" b="1" i="0">
              <a:solidFill>
                <a:srgbClr val="0E3B2E"/>
              </a:solidFill>
              <a:latin typeface="Calibri" panose="020F0502020204030204"/>
            </a:endParaRPr>
          </a:p>
        </p:txBody>
      </p:sp>
      <p:sp>
        <p:nvSpPr>
          <p:cNvPr id="6" name="Rectangle 5"/>
          <p:cNvSpPr/>
          <p:nvPr/>
        </p:nvSpPr>
        <p:spPr>
          <a:xfrm>
            <a:off x="868680" y="123901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08</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440180"/>
            <a:ext cx="10515600" cy="777240"/>
          </a:xfrm>
          <a:prstGeom prst="roundRect">
            <a:avLst>
              <a:gd name="adj" fmla="val 8000"/>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64008" rIns="146304" bIns="64008" rtlCol="0" anchor="ctr"/>
          <a:lstStyle/>
          <a:p>
            <a:pPr algn="l">
              <a:lnSpc>
                <a:spcPct val="100000"/>
              </a:lnSpc>
              <a:spcBef>
                <a:spcPts val="0"/>
              </a:spcBef>
              <a:spcAft>
                <a:spcPts val="600"/>
              </a:spcAft>
            </a:pPr>
            <a:r>
              <a:rPr sz="1200" b="0" i="0">
                <a:solidFill>
                  <a:srgbClr val="E8F3EC"/>
                </a:solidFill>
                <a:latin typeface="Calibri" panose="020F0502020204030204"/>
              </a:rPr>
              <a:t>Annual net benefit to school</a:t>
            </a:r>
            <a:endParaRPr sz="1200" b="0" i="0">
              <a:solidFill>
                <a:srgbClr val="E8F3EC"/>
              </a:solidFill>
              <a:latin typeface="Calibri" panose="020F0502020204030204"/>
            </a:endParaRPr>
          </a:p>
          <a:p>
            <a:pPr algn="l">
              <a:lnSpc>
                <a:spcPct val="100000"/>
              </a:lnSpc>
              <a:spcBef>
                <a:spcPts val="0"/>
              </a:spcBef>
              <a:spcAft>
                <a:spcPts val="600"/>
              </a:spcAft>
            </a:pPr>
            <a:r>
              <a:rPr sz="2600" b="1" i="0">
                <a:solidFill>
                  <a:srgbClr val="E99A00"/>
                </a:solidFill>
                <a:latin typeface="Calibri" panose="020F0502020204030204"/>
              </a:rPr>
              <a:t>₦1,880,000</a:t>
            </a:r>
            <a:endParaRPr sz="2600" b="1" i="0">
              <a:solidFill>
                <a:srgbClr val="E99A00"/>
              </a:solidFill>
              <a:latin typeface="Calibri" panose="020F0502020204030204"/>
            </a:endParaRPr>
          </a:p>
        </p:txBody>
      </p:sp>
      <p:sp>
        <p:nvSpPr>
          <p:cNvPr id="10" name="TextBox 9"/>
          <p:cNvSpPr txBox="1"/>
          <p:nvPr/>
        </p:nvSpPr>
        <p:spPr>
          <a:xfrm>
            <a:off x="868680" y="2308860"/>
            <a:ext cx="5212080" cy="365760"/>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B7A4E"/>
                </a:solidFill>
                <a:latin typeface="Calibri" panose="020F0502020204030204"/>
              </a:rPr>
              <a:t>How we make / save money</a:t>
            </a:r>
            <a:endParaRPr sz="1400" b="1" i="0">
              <a:solidFill>
                <a:srgbClr val="1B7A4E"/>
              </a:solidFill>
              <a:latin typeface="Calibri" panose="020F0502020204030204"/>
            </a:endParaRPr>
          </a:p>
        </p:txBody>
      </p:sp>
      <p:sp>
        <p:nvSpPr>
          <p:cNvPr id="11" name="Rounded Rectangle 10"/>
          <p:cNvSpPr/>
          <p:nvPr/>
        </p:nvSpPr>
        <p:spPr>
          <a:xfrm>
            <a:off x="868680" y="263804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₦1,860,000</a:t>
            </a:r>
            <a:r>
              <a:rPr sz="1250" b="1" i="0">
                <a:solidFill>
                  <a:srgbClr val="0E3B2E"/>
                </a:solidFill>
                <a:latin typeface="Calibri" panose="020F0502020204030204"/>
              </a:rPr>
              <a:t>   Savings</a:t>
            </a:r>
            <a:endParaRPr sz="1250" b="1" i="0">
              <a:solidFill>
                <a:srgbClr val="0E3B2E"/>
              </a:solidFill>
              <a:latin typeface="Calibri" panose="020F0502020204030204"/>
            </a:endParaRPr>
          </a:p>
        </p:txBody>
      </p:sp>
      <p:sp>
        <p:nvSpPr>
          <p:cNvPr id="12" name="TextBox 11"/>
          <p:cNvSpPr txBox="1"/>
          <p:nvPr/>
        </p:nvSpPr>
        <p:spPr>
          <a:xfrm>
            <a:off x="1005840" y="2784348"/>
            <a:ext cx="4937760" cy="292608"/>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No LPG and no waste-truck fees.</a:t>
            </a:r>
            <a:endParaRPr sz="1050" b="0" i="0">
              <a:solidFill>
                <a:srgbClr val="5A6B66"/>
              </a:solidFill>
              <a:latin typeface="Calibri" panose="020F0502020204030204"/>
            </a:endParaRPr>
          </a:p>
        </p:txBody>
      </p:sp>
      <p:sp>
        <p:nvSpPr>
          <p:cNvPr id="13" name="Rounded Rectangle 12"/>
          <p:cNvSpPr/>
          <p:nvPr/>
        </p:nvSpPr>
        <p:spPr>
          <a:xfrm>
            <a:off x="868680" y="327812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2E8B57"/>
                </a:solidFill>
                <a:latin typeface="Calibri" panose="020F0502020204030204"/>
              </a:rPr>
              <a:t>₦320,000</a:t>
            </a:r>
            <a:r>
              <a:rPr sz="1250" b="1" i="0">
                <a:solidFill>
                  <a:srgbClr val="0E3B2E"/>
                </a:solidFill>
                <a:latin typeface="Calibri" panose="020F0502020204030204"/>
              </a:rPr>
              <a:t>   Revenue</a:t>
            </a:r>
            <a:endParaRPr sz="1250" b="1" i="0">
              <a:solidFill>
                <a:srgbClr val="0E3B2E"/>
              </a:solidFill>
              <a:latin typeface="Calibri" panose="020F0502020204030204"/>
            </a:endParaRPr>
          </a:p>
        </p:txBody>
      </p:sp>
      <p:sp>
        <p:nvSpPr>
          <p:cNvPr id="14" name="TextBox 13"/>
          <p:cNvSpPr txBox="1"/>
          <p:nvPr/>
        </p:nvSpPr>
        <p:spPr>
          <a:xfrm>
            <a:off x="1005840" y="3424428"/>
            <a:ext cx="4937760" cy="292608"/>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Organic fertilisers and carbon credits.</a:t>
            </a:r>
            <a:endParaRPr sz="1050" b="0" i="0">
              <a:solidFill>
                <a:srgbClr val="5A6B66"/>
              </a:solidFill>
              <a:latin typeface="Calibri" panose="020F0502020204030204"/>
            </a:endParaRPr>
          </a:p>
        </p:txBody>
      </p:sp>
      <p:sp>
        <p:nvSpPr>
          <p:cNvPr id="15" name="Rounded Rectangle 14"/>
          <p:cNvSpPr/>
          <p:nvPr/>
        </p:nvSpPr>
        <p:spPr>
          <a:xfrm>
            <a:off x="868680" y="391820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B33A2E"/>
                </a:solidFill>
                <a:latin typeface="Calibri" panose="020F0502020204030204"/>
              </a:rPr>
              <a:t>₦80,000</a:t>
            </a:r>
            <a:r>
              <a:rPr sz="1250" b="1" i="0">
                <a:solidFill>
                  <a:srgbClr val="0E3B2E"/>
                </a:solidFill>
                <a:latin typeface="Calibri" panose="020F0502020204030204"/>
              </a:rPr>
              <a:t>   Running cost</a:t>
            </a:r>
            <a:endParaRPr sz="1250" b="1" i="0">
              <a:solidFill>
                <a:srgbClr val="0E3B2E"/>
              </a:solidFill>
              <a:latin typeface="Calibri" panose="020F0502020204030204"/>
            </a:endParaRPr>
          </a:p>
        </p:txBody>
      </p:sp>
      <p:sp>
        <p:nvSpPr>
          <p:cNvPr id="16" name="TextBox 15"/>
          <p:cNvSpPr txBox="1"/>
          <p:nvPr/>
        </p:nvSpPr>
        <p:spPr>
          <a:xfrm>
            <a:off x="1005840" y="4064508"/>
            <a:ext cx="4937760" cy="161290"/>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Maintenance and </a:t>
            </a:r>
            <a:r>
              <a:rPr lang="en-US" sz="1050" b="0" i="0">
                <a:solidFill>
                  <a:srgbClr val="5A6B66"/>
                </a:solidFill>
                <a:latin typeface="Calibri" panose="020F0502020204030204"/>
              </a:rPr>
              <a:t>microbes</a:t>
            </a:r>
            <a:r>
              <a:rPr sz="1050" b="0" i="0">
                <a:solidFill>
                  <a:srgbClr val="5A6B66"/>
                </a:solidFill>
                <a:latin typeface="Calibri" panose="020F0502020204030204"/>
              </a:rPr>
              <a:t>.</a:t>
            </a:r>
            <a:endParaRPr sz="1050" b="0" i="0">
              <a:solidFill>
                <a:srgbClr val="5A6B66"/>
              </a:solidFill>
              <a:latin typeface="Calibri" panose="020F0502020204030204"/>
            </a:endParaRPr>
          </a:p>
        </p:txBody>
      </p:sp>
      <p:sp>
        <p:nvSpPr>
          <p:cNvPr id="17" name="Rounded Rectangle 16"/>
          <p:cNvSpPr/>
          <p:nvPr/>
        </p:nvSpPr>
        <p:spPr>
          <a:xfrm>
            <a:off x="868680" y="455828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0E3B2E"/>
                </a:solidFill>
                <a:latin typeface="Calibri" panose="020F0502020204030204"/>
              </a:rPr>
              <a:t>₦1,880,000</a:t>
            </a:r>
            <a:r>
              <a:rPr sz="1250" b="1" i="0">
                <a:solidFill>
                  <a:srgbClr val="0E3B2E"/>
                </a:solidFill>
                <a:latin typeface="Calibri" panose="020F0502020204030204"/>
              </a:rPr>
              <a:t>   Net gain every year</a:t>
            </a:r>
            <a:endParaRPr sz="1250" b="1" i="0">
              <a:solidFill>
                <a:srgbClr val="0E3B2E"/>
              </a:solidFill>
              <a:latin typeface="Calibri" panose="020F0502020204030204"/>
            </a:endParaRPr>
          </a:p>
        </p:txBody>
      </p:sp>
      <p:sp>
        <p:nvSpPr>
          <p:cNvPr id="18" name="TextBox 17"/>
          <p:cNvSpPr txBox="1"/>
          <p:nvPr/>
        </p:nvSpPr>
        <p:spPr>
          <a:xfrm>
            <a:off x="1005840" y="4704588"/>
            <a:ext cx="4937760" cy="292608"/>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Reported annual net benefit.</a:t>
            </a:r>
            <a:endParaRPr sz="1050" b="0" i="0">
              <a:solidFill>
                <a:srgbClr val="5A6B66"/>
              </a:solidFill>
              <a:latin typeface="Calibri" panose="020F0502020204030204"/>
            </a:endParaRPr>
          </a:p>
        </p:txBody>
      </p:sp>
      <p:sp>
        <p:nvSpPr>
          <p:cNvPr id="30" name="Rounded Rectangle 29"/>
          <p:cNvSpPr/>
          <p:nvPr/>
        </p:nvSpPr>
        <p:spPr>
          <a:xfrm>
            <a:off x="6309360" y="5440680"/>
            <a:ext cx="2493010" cy="868680"/>
          </a:xfrm>
          <a:prstGeom prst="roundRect">
            <a:avLst>
              <a:gd name="adj" fmla="val 12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ctr"/>
          <a:lstStyle/>
          <a:p>
            <a:pPr algn="l">
              <a:lnSpc>
                <a:spcPct val="100000"/>
              </a:lnSpc>
              <a:spcBef>
                <a:spcPts val="0"/>
              </a:spcBef>
              <a:spcAft>
                <a:spcPts val="600"/>
              </a:spcAft>
            </a:pPr>
            <a:r>
              <a:rPr sz="1500" b="1" i="0">
                <a:solidFill>
                  <a:srgbClr val="0E3B2E"/>
                </a:solidFill>
                <a:latin typeface="Calibri" panose="020F0502020204030204"/>
              </a:rPr>
              <a:t>17</a:t>
            </a:r>
            <a:endParaRPr sz="1500" b="1" i="0">
              <a:solidFill>
                <a:srgbClr val="0E3B2E"/>
              </a:solidFill>
              <a:latin typeface="Calibri" panose="020F0502020204030204"/>
            </a:endParaRPr>
          </a:p>
          <a:p>
            <a:pPr algn="l">
              <a:lnSpc>
                <a:spcPct val="100000"/>
              </a:lnSpc>
              <a:spcBef>
                <a:spcPts val="0"/>
              </a:spcBef>
              <a:spcAft>
                <a:spcPts val="600"/>
              </a:spcAft>
            </a:pPr>
            <a:r>
              <a:rPr sz="1050" b="0" i="0">
                <a:solidFill>
                  <a:srgbClr val="5A6B66"/>
                </a:solidFill>
                <a:latin typeface="Calibri" panose="020F0502020204030204"/>
              </a:rPr>
              <a:t>Months payback</a:t>
            </a:r>
            <a:endParaRPr sz="1050" b="0" i="0">
              <a:solidFill>
                <a:srgbClr val="5A6B66"/>
              </a:solidFill>
              <a:latin typeface="Calibri" panose="020F0502020204030204"/>
            </a:endParaRPr>
          </a:p>
        </p:txBody>
      </p:sp>
      <p:sp>
        <p:nvSpPr>
          <p:cNvPr id="31" name="Rounded Rectangle 30"/>
          <p:cNvSpPr/>
          <p:nvPr/>
        </p:nvSpPr>
        <p:spPr>
          <a:xfrm>
            <a:off x="9006840" y="5440680"/>
            <a:ext cx="2514600" cy="868680"/>
          </a:xfrm>
          <a:prstGeom prst="roundRect">
            <a:avLst>
              <a:gd name="adj" fmla="val 12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ctr"/>
          <a:lstStyle/>
          <a:p>
            <a:pPr algn="l">
              <a:lnSpc>
                <a:spcPct val="100000"/>
              </a:lnSpc>
              <a:spcBef>
                <a:spcPts val="0"/>
              </a:spcBef>
              <a:spcAft>
                <a:spcPts val="600"/>
              </a:spcAft>
            </a:pPr>
            <a:r>
              <a:rPr sz="1500" b="1" i="0">
                <a:solidFill>
                  <a:srgbClr val="0E3B2E"/>
                </a:solidFill>
                <a:latin typeface="Calibri" panose="020F0502020204030204"/>
              </a:rPr>
              <a:t>71%</a:t>
            </a:r>
            <a:endParaRPr sz="1500" b="1" i="0">
              <a:solidFill>
                <a:srgbClr val="0E3B2E"/>
              </a:solidFill>
              <a:latin typeface="Calibri" panose="020F0502020204030204"/>
            </a:endParaRPr>
          </a:p>
          <a:p>
            <a:pPr algn="l">
              <a:lnSpc>
                <a:spcPct val="100000"/>
              </a:lnSpc>
              <a:spcBef>
                <a:spcPts val="0"/>
              </a:spcBef>
              <a:spcAft>
                <a:spcPts val="600"/>
              </a:spcAft>
            </a:pPr>
            <a:r>
              <a:rPr sz="1050" b="0" i="0">
                <a:solidFill>
                  <a:srgbClr val="5A6B66"/>
                </a:solidFill>
                <a:latin typeface="Calibri" panose="020F0502020204030204"/>
              </a:rPr>
              <a:t>Year-1 ROI</a:t>
            </a:r>
            <a:endParaRPr sz="1050" b="0" i="0">
              <a:solidFill>
                <a:srgbClr val="5A6B66"/>
              </a:solidFill>
              <a:latin typeface="Calibri" panose="020F0502020204030204"/>
            </a:endParaRPr>
          </a:p>
        </p:txBody>
      </p:sp>
      <p:sp>
        <p:nvSpPr>
          <p:cNvPr id="32" name="Rounded Rectangle 31"/>
          <p:cNvSpPr/>
          <p:nvPr/>
        </p:nvSpPr>
        <p:spPr>
          <a:xfrm>
            <a:off x="868680" y="5342255"/>
            <a:ext cx="5212080" cy="914400"/>
          </a:xfrm>
          <a:prstGeom prst="roundRect">
            <a:avLst>
              <a:gd name="adj" fmla="val 8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sz="1150" b="1" i="0">
                <a:solidFill>
                  <a:srgbClr val="1B7A4E"/>
                </a:solidFill>
                <a:latin typeface="Calibri" panose="020F0502020204030204"/>
              </a:rPr>
              <a:t>Motto</a:t>
            </a:r>
            <a:endParaRPr sz="1150" b="1" i="0">
              <a:solidFill>
                <a:srgbClr val="1B7A4E"/>
              </a:solidFill>
              <a:latin typeface="Calibri" panose="020F0502020204030204"/>
            </a:endParaRPr>
          </a:p>
          <a:p>
            <a:pPr algn="l">
              <a:lnSpc>
                <a:spcPct val="100000"/>
              </a:lnSpc>
              <a:spcBef>
                <a:spcPts val="0"/>
              </a:spcBef>
              <a:spcAft>
                <a:spcPts val="600"/>
              </a:spcAft>
            </a:pPr>
            <a:r>
              <a:rPr sz="1250" b="0" i="0">
                <a:solidFill>
                  <a:srgbClr val="0E3B2E"/>
                </a:solidFill>
                <a:latin typeface="Calibri" panose="020F0502020204030204"/>
              </a:rPr>
              <a:t>This investment pays for itself in 17 months and generates savings for 15 years.</a:t>
            </a:r>
            <a:endParaRPr sz="1250" b="0" i="0">
              <a:solidFill>
                <a:srgbClr val="0E3B2E"/>
              </a:solidFill>
              <a:latin typeface="Calibri" panose="020F0502020204030204"/>
            </a:endParaRPr>
          </a:p>
        </p:txBody>
      </p:sp>
      <p:sp>
        <p:nvSpPr>
          <p:cNvPr id="33" name="Rounded Rectangle 32"/>
          <p:cNvSpPr/>
          <p:nvPr/>
        </p:nvSpPr>
        <p:spPr>
          <a:xfrm>
            <a:off x="6309360" y="2594610"/>
            <a:ext cx="5212080" cy="1924685"/>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19456" tIns="182880" rIns="219456" bIns="64008" rtlCol="0" anchor="t"/>
          <a:lstStyle/>
          <a:p>
            <a:pPr algn="l">
              <a:lnSpc>
                <a:spcPct val="100000"/>
              </a:lnSpc>
              <a:spcBef>
                <a:spcPts val="0"/>
              </a:spcBef>
              <a:spcAft>
                <a:spcPts val="600"/>
              </a:spcAft>
            </a:pPr>
            <a:r>
              <a:rPr sz="1300" b="0" i="0">
                <a:solidFill>
                  <a:srgbClr val="1A2B26"/>
                </a:solidFill>
                <a:latin typeface="Calibri" panose="020F0502020204030204"/>
              </a:rPr>
              <a:t>As the Head Girl of my college, I will sustain this innovation by:</a:t>
            </a:r>
            <a:endParaRPr sz="1300" b="0" i="0">
              <a:solidFill>
                <a:srgbClr val="1A2B26"/>
              </a:solidFill>
              <a:latin typeface="Calibri" panose="020F0502020204030204"/>
            </a:endParaRPr>
          </a:p>
          <a:p>
            <a:pPr algn="l">
              <a:lnSpc>
                <a:spcPct val="100000"/>
              </a:lnSpc>
              <a:spcBef>
                <a:spcPts val="0"/>
              </a:spcBef>
              <a:spcAft>
                <a:spcPts val="600"/>
              </a:spcAft>
            </a:pPr>
            <a:r>
              <a:rPr sz="1200" b="1" i="0">
                <a:solidFill>
                  <a:srgbClr val="E99A00"/>
                </a:solidFill>
                <a:latin typeface="Calibri" panose="020F0502020204030204"/>
              </a:rPr>
              <a:t>01</a:t>
            </a:r>
            <a:r>
              <a:rPr sz="1250" b="0" i="0">
                <a:solidFill>
                  <a:srgbClr val="1A2B26"/>
                </a:solidFill>
                <a:latin typeface="Calibri" panose="020F0502020204030204"/>
              </a:rPr>
              <a:t>  Organise 10 reliable students from our Green Club to manage its operations.</a:t>
            </a:r>
            <a:endParaRPr sz="1250" b="0" i="0">
              <a:solidFill>
                <a:srgbClr val="1A2B26"/>
              </a:solidFill>
              <a:latin typeface="Calibri" panose="020F0502020204030204"/>
            </a:endParaRPr>
          </a:p>
          <a:p>
            <a:pPr algn="l">
              <a:lnSpc>
                <a:spcPct val="100000"/>
              </a:lnSpc>
              <a:spcBef>
                <a:spcPts val="0"/>
              </a:spcBef>
              <a:spcAft>
                <a:spcPts val="600"/>
              </a:spcAft>
            </a:pPr>
            <a:r>
              <a:rPr sz="1200" b="1" i="0">
                <a:solidFill>
                  <a:srgbClr val="E99A00"/>
                </a:solidFill>
                <a:latin typeface="Calibri" panose="020F0502020204030204"/>
              </a:rPr>
              <a:t>02</a:t>
            </a:r>
            <a:r>
              <a:rPr sz="1250" b="0" i="0">
                <a:solidFill>
                  <a:srgbClr val="1A2B26"/>
                </a:solidFill>
                <a:latin typeface="Calibri" panose="020F0502020204030204"/>
              </a:rPr>
              <a:t>  Train two (2) juniors for continuity.</a:t>
            </a:r>
            <a:endParaRPr sz="1250" b="0" i="0">
              <a:solidFill>
                <a:srgbClr val="1A2B26"/>
              </a:solidFill>
              <a:latin typeface="Calibri" panose="020F0502020204030204"/>
            </a:endParaRPr>
          </a:p>
          <a:p>
            <a:pPr algn="l">
              <a:lnSpc>
                <a:spcPct val="100000"/>
              </a:lnSpc>
              <a:spcBef>
                <a:spcPts val="0"/>
              </a:spcBef>
              <a:spcAft>
                <a:spcPts val="600"/>
              </a:spcAft>
            </a:pPr>
            <a:r>
              <a:rPr sz="1200" b="1" i="0">
                <a:solidFill>
                  <a:srgbClr val="E99A00"/>
                </a:solidFill>
                <a:latin typeface="Calibri" panose="020F0502020204030204"/>
              </a:rPr>
              <a:t>03</a:t>
            </a:r>
            <a:r>
              <a:rPr sz="1250" b="0" i="0">
                <a:solidFill>
                  <a:srgbClr val="1A2B26"/>
                </a:solidFill>
                <a:latin typeface="Calibri" panose="020F0502020204030204"/>
              </a:rPr>
              <a:t>  Enhance scalability so more models can be replicated in other schools and communities.</a:t>
            </a:r>
            <a:endParaRPr sz="1250" b="0" i="0">
              <a:solidFill>
                <a:srgbClr val="1A2B26"/>
              </a:solidFill>
              <a:latin typeface="Calibri" panose="020F0502020204030204"/>
            </a:endParaRPr>
          </a:p>
        </p:txBody>
      </p:sp>
      <p:sp>
        <p:nvSpPr>
          <p:cNvPr id="34" name="TextBox 12"/>
          <p:cNvSpPr txBox="1"/>
          <p:nvPr/>
        </p:nvSpPr>
        <p:spPr>
          <a:xfrm>
            <a:off x="6309360" y="2247138"/>
            <a:ext cx="521208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B7A4E"/>
                </a:solidFill>
                <a:latin typeface="Calibri" panose="020F0502020204030204"/>
              </a:rPr>
              <a:t>Sustainability and leadership plan</a:t>
            </a:r>
            <a:endParaRPr sz="1500" b="1" i="0">
              <a:solidFill>
                <a:srgbClr val="1B7A4E"/>
              </a:solidFill>
              <a:latin typeface="Calibri" panose="020F0502020204030204"/>
            </a:endParaRPr>
          </a:p>
        </p:txBody>
      </p:sp>
      <p:sp>
        <p:nvSpPr>
          <p:cNvPr id="36" name="Rounded Rectangle 35"/>
          <p:cNvSpPr/>
          <p:nvPr/>
        </p:nvSpPr>
        <p:spPr>
          <a:xfrm>
            <a:off x="6320790" y="4583430"/>
            <a:ext cx="5200650" cy="765810"/>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250" b="1" i="0">
                <a:solidFill>
                  <a:srgbClr val="1B7A4E"/>
                </a:solidFill>
                <a:latin typeface="Calibri" panose="020F0502020204030204"/>
              </a:rPr>
              <a:t>5-year savings</a:t>
            </a:r>
            <a:endParaRPr sz="1250" b="1" i="0">
              <a:solidFill>
                <a:srgbClr val="1B7A4E"/>
              </a:solidFill>
              <a:latin typeface="Calibri" panose="020F0502020204030204"/>
            </a:endParaRPr>
          </a:p>
          <a:p>
            <a:pPr algn="l">
              <a:lnSpc>
                <a:spcPct val="100000"/>
              </a:lnSpc>
              <a:spcBef>
                <a:spcPts val="0"/>
              </a:spcBef>
              <a:spcAft>
                <a:spcPts val="600"/>
              </a:spcAft>
            </a:pPr>
            <a:r>
              <a:rPr sz="1450" b="1" i="0">
                <a:solidFill>
                  <a:srgbClr val="0E3B2E"/>
                </a:solidFill>
                <a:latin typeface="Calibri" panose="020F0502020204030204"/>
              </a:rPr>
              <a:t>₦6,750,000 for our labs, infrastructure and scholarships.</a:t>
            </a:r>
            <a:endParaRPr sz="1450" b="1" i="0">
              <a:solidFill>
                <a:srgbClr val="0E3B2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SOLUTION</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400" b="1" i="0">
                <a:solidFill>
                  <a:srgbClr val="0E3B2E"/>
                </a:solidFill>
                <a:latin typeface="Calibri" panose="020F0502020204030204"/>
              </a:rPr>
              <a:t>How My Smart Bioclean Biogas System (BSBS) Combats Air Pollution</a:t>
            </a:r>
            <a:endParaRPr sz="24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09</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572768"/>
            <a:ext cx="5120640" cy="868680"/>
          </a:xfrm>
          <a:prstGeom prst="roundRect">
            <a:avLst>
              <a:gd name="adj" fmla="val 8000"/>
            </a:avLst>
          </a:prstGeom>
          <a:solidFill>
            <a:srgbClr val="FBEAEA"/>
          </a:solidFill>
          <a:ln w="12700">
            <a:solidFill>
              <a:srgbClr val="B33A2E"/>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46304" bIns="64008" rtlCol="0" anchor="ctr"/>
          <a:lstStyle/>
          <a:p>
            <a:pPr algn="l">
              <a:lnSpc>
                <a:spcPct val="100000"/>
              </a:lnSpc>
              <a:spcBef>
                <a:spcPts val="0"/>
              </a:spcBef>
              <a:spcAft>
                <a:spcPts val="600"/>
              </a:spcAft>
            </a:pPr>
            <a:r>
              <a:rPr sz="1150" b="1" i="0">
                <a:solidFill>
                  <a:srgbClr val="B33A2E"/>
                </a:solidFill>
                <a:latin typeface="Calibri" panose="020F0502020204030204"/>
              </a:rPr>
              <a:t>BEFORE</a:t>
            </a:r>
            <a:endParaRPr sz="1150" b="1" i="0">
              <a:solidFill>
                <a:srgbClr val="B33A2E"/>
              </a:solidFill>
              <a:latin typeface="Calibri" panose="020F0502020204030204"/>
            </a:endParaRPr>
          </a:p>
          <a:p>
            <a:pPr algn="l">
              <a:lnSpc>
                <a:spcPct val="100000"/>
              </a:lnSpc>
              <a:spcBef>
                <a:spcPts val="0"/>
              </a:spcBef>
              <a:spcAft>
                <a:spcPts val="600"/>
              </a:spcAft>
            </a:pPr>
            <a:r>
              <a:rPr sz="1200" b="0" i="0">
                <a:solidFill>
                  <a:srgbClr val="1A2B26"/>
                </a:solidFill>
                <a:latin typeface="Calibri" panose="020F0502020204030204"/>
              </a:rPr>
              <a:t>Waste burning  →  Smoke  →  Air pollution  →  Health problems</a:t>
            </a:r>
            <a:endParaRPr sz="1200" b="0" i="0">
              <a:solidFill>
                <a:srgbClr val="1A2B26"/>
              </a:solidFill>
              <a:latin typeface="Calibri" panose="020F0502020204030204"/>
            </a:endParaRPr>
          </a:p>
        </p:txBody>
      </p:sp>
      <p:sp>
        <p:nvSpPr>
          <p:cNvPr id="10" name="Rounded Rectangle 9"/>
          <p:cNvSpPr/>
          <p:nvPr/>
        </p:nvSpPr>
        <p:spPr>
          <a:xfrm>
            <a:off x="6172200" y="1572768"/>
            <a:ext cx="5212080" cy="868680"/>
          </a:xfrm>
          <a:prstGeom prst="roundRect">
            <a:avLst>
              <a:gd name="adj" fmla="val 8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46304" bIns="64008" rtlCol="0" anchor="ctr"/>
          <a:lstStyle/>
          <a:p>
            <a:pPr algn="l">
              <a:lnSpc>
                <a:spcPct val="100000"/>
              </a:lnSpc>
              <a:spcBef>
                <a:spcPts val="0"/>
              </a:spcBef>
              <a:spcAft>
                <a:spcPts val="600"/>
              </a:spcAft>
            </a:pPr>
            <a:r>
              <a:rPr sz="1150" b="1" i="0">
                <a:solidFill>
                  <a:srgbClr val="1B7A4E"/>
                </a:solidFill>
                <a:latin typeface="Calibri" panose="020F0502020204030204"/>
              </a:rPr>
              <a:t>AFTER</a:t>
            </a:r>
            <a:endParaRPr sz="1150" b="1" i="0">
              <a:solidFill>
                <a:srgbClr val="1B7A4E"/>
              </a:solidFill>
              <a:latin typeface="Calibri" panose="020F0502020204030204"/>
            </a:endParaRPr>
          </a:p>
          <a:p>
            <a:pPr algn="l">
              <a:lnSpc>
                <a:spcPct val="100000"/>
              </a:lnSpc>
              <a:spcBef>
                <a:spcPts val="0"/>
              </a:spcBef>
              <a:spcAft>
                <a:spcPts val="600"/>
              </a:spcAft>
            </a:pPr>
            <a:r>
              <a:rPr sz="1200" b="0" i="0">
                <a:solidFill>
                  <a:srgbClr val="1A2B26"/>
                </a:solidFill>
                <a:latin typeface="Calibri" panose="020F0502020204030204"/>
              </a:rPr>
              <a:t>Waste collection  →  Biogas production  →  Clean energy  →  Cleaner environment</a:t>
            </a:r>
            <a:endParaRPr sz="1200" b="0" i="0">
              <a:solidFill>
                <a:srgbClr val="1A2B26"/>
              </a:solidFill>
              <a:latin typeface="Calibri" panose="020F0502020204030204"/>
            </a:endParaRPr>
          </a:p>
        </p:txBody>
      </p:sp>
      <p:sp>
        <p:nvSpPr>
          <p:cNvPr id="11" name="Rounded Rectangle 10"/>
          <p:cNvSpPr/>
          <p:nvPr/>
        </p:nvSpPr>
        <p:spPr>
          <a:xfrm>
            <a:off x="868680" y="2578608"/>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Health</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Biogas burns clean and releases no smoke into the atmosphere, reducing health risks from firewood, charcoal and generator fumes.</a:t>
            </a:r>
            <a:endParaRPr sz="1080" b="0" i="0">
              <a:solidFill>
                <a:srgbClr val="1A2B26"/>
              </a:solidFill>
              <a:latin typeface="Calibri" panose="020F0502020204030204"/>
            </a:endParaRPr>
          </a:p>
        </p:txBody>
      </p:sp>
      <p:sp>
        <p:nvSpPr>
          <p:cNvPr id="12" name="Rounded Rectangle 11"/>
          <p:cNvSpPr/>
          <p:nvPr/>
        </p:nvSpPr>
        <p:spPr>
          <a:xfrm>
            <a:off x="6172200" y="2578608"/>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Economic</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Biogas comes from decomposing organic materials, so</a:t>
            </a:r>
            <a:r>
              <a:rPr lang="en-US" sz="1080" b="0" i="0">
                <a:solidFill>
                  <a:srgbClr val="1A2B26"/>
                </a:solidFill>
                <a:latin typeface="Calibri" panose="020F0502020204030204"/>
              </a:rPr>
              <a:t> My</a:t>
            </a:r>
            <a:r>
              <a:rPr sz="1080" b="0" i="0">
                <a:solidFill>
                  <a:srgbClr val="1A2B26"/>
                </a:solidFill>
                <a:latin typeface="Calibri" panose="020F0502020204030204"/>
              </a:rPr>
              <a:t> BSBS is affordable for families and schools. A 5m³ model in each home brings a net benefit of ₦1,880,000, </a:t>
            </a:r>
            <a:r>
              <a:rPr lang="en-US" sz="1080" b="0" i="0">
                <a:solidFill>
                  <a:srgbClr val="1A2B26"/>
                </a:solidFill>
                <a:latin typeface="Calibri" panose="020F0502020204030204"/>
              </a:rPr>
              <a:t>The utilization of biogas would minimize the use of petrol and cooking gas which may not be affordable for most families, Moreover my BSBS would create employment opportunities for skilled residents who are willing to work</a:t>
            </a:r>
            <a:endParaRPr sz="1080" b="0" i="0">
              <a:solidFill>
                <a:srgbClr val="1A2B26"/>
              </a:solidFill>
              <a:latin typeface="Calibri" panose="020F0502020204030204"/>
            </a:endParaRPr>
          </a:p>
        </p:txBody>
      </p:sp>
      <p:sp>
        <p:nvSpPr>
          <p:cNvPr id="13" name="Rounded Rectangle 12"/>
          <p:cNvSpPr/>
          <p:nvPr/>
        </p:nvSpPr>
        <p:spPr>
          <a:xfrm>
            <a:off x="868680" y="3913632"/>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Agricultural</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The residue</a:t>
            </a:r>
            <a:r>
              <a:rPr lang="en-US" sz="1080" b="0" i="0">
                <a:solidFill>
                  <a:srgbClr val="1A2B26"/>
                </a:solidFill>
                <a:latin typeface="Calibri" panose="020F0502020204030204"/>
              </a:rPr>
              <a:t> left behind after the production </a:t>
            </a:r>
            <a:r>
              <a:rPr sz="1080" b="0" i="0">
                <a:solidFill>
                  <a:srgbClr val="1A2B26"/>
                </a:solidFill>
                <a:latin typeface="Calibri" panose="020F0502020204030204"/>
              </a:rPr>
              <a:t> is collected by the slurry outlet and dried on the drying bed before</a:t>
            </a:r>
            <a:r>
              <a:rPr lang="en-US" sz="1080" b="0" i="0">
                <a:solidFill>
                  <a:srgbClr val="1A2B26"/>
                </a:solidFill>
                <a:latin typeface="Calibri" panose="020F0502020204030204"/>
              </a:rPr>
              <a:t>it can be </a:t>
            </a:r>
            <a:r>
              <a:rPr sz="1080" b="0" i="0">
                <a:solidFill>
                  <a:srgbClr val="1A2B26"/>
                </a:solidFill>
                <a:latin typeface="Calibri" panose="020F0502020204030204"/>
              </a:rPr>
              <a:t> supplied</a:t>
            </a:r>
            <a:r>
              <a:rPr sz="1080" b="0" i="0">
                <a:solidFill>
                  <a:srgbClr val="1A2B26"/>
                </a:solidFill>
                <a:latin typeface="Calibri" panose="020F0502020204030204"/>
              </a:rPr>
              <a:t> to farmers</a:t>
            </a:r>
            <a:r>
              <a:rPr lang="en-US" sz="1080" b="0" i="0">
                <a:solidFill>
                  <a:srgbClr val="1A2B26"/>
                </a:solidFill>
                <a:latin typeface="Calibri" panose="020F0502020204030204"/>
              </a:rPr>
              <a:t>. This will therefore encourage farmers to cultivate more in order to yield b</a:t>
            </a:r>
            <a:r>
              <a:rPr sz="1080" b="0" i="0">
                <a:solidFill>
                  <a:srgbClr val="1A2B26"/>
                </a:solidFill>
                <a:latin typeface="Calibri" panose="020F0502020204030204"/>
              </a:rPr>
              <a:t>ountiful harvests</a:t>
            </a:r>
            <a:r>
              <a:rPr lang="en-US" sz="1080" b="0" i="0">
                <a:solidFill>
                  <a:srgbClr val="1A2B26"/>
                </a:solidFill>
                <a:latin typeface="Calibri" panose="020F0502020204030204"/>
              </a:rPr>
              <a:t> thereby </a:t>
            </a:r>
            <a:r>
              <a:rPr sz="1080">
                <a:solidFill>
                  <a:srgbClr val="1A2B26"/>
                </a:solidFill>
                <a:latin typeface="Calibri" panose="020F0502020204030204"/>
                <a:sym typeface="+mn-ea"/>
              </a:rPr>
              <a:t>fostering agriculture </a:t>
            </a:r>
            <a:r>
              <a:rPr lang="en-US" sz="1080">
                <a:solidFill>
                  <a:srgbClr val="1A2B26"/>
                </a:solidFill>
                <a:latin typeface="Calibri" panose="020F0502020204030204"/>
                <a:sym typeface="+mn-ea"/>
              </a:rPr>
              <a:t>in our community and beyond</a:t>
            </a:r>
            <a:endParaRPr lang="en-US" sz="1080" b="0" i="0">
              <a:solidFill>
                <a:srgbClr val="1A2B26"/>
              </a:solidFill>
              <a:latin typeface="Calibri" panose="020F0502020204030204"/>
              <a:sym typeface="+mn-ea"/>
            </a:endParaRPr>
          </a:p>
        </p:txBody>
      </p:sp>
      <p:sp>
        <p:nvSpPr>
          <p:cNvPr id="14" name="Rounded Rectangle 13"/>
          <p:cNvSpPr/>
          <p:nvPr/>
        </p:nvSpPr>
        <p:spPr>
          <a:xfrm>
            <a:off x="6172200" y="3913632"/>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Social</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Students</a:t>
            </a:r>
            <a:r>
              <a:rPr lang="en-US" sz="1080" b="0" i="0">
                <a:solidFill>
                  <a:srgbClr val="1A2B26"/>
                </a:solidFill>
                <a:latin typeface="Calibri" panose="020F0502020204030204"/>
              </a:rPr>
              <a:t> will not have to feel </a:t>
            </a:r>
            <a:r>
              <a:rPr sz="1080" b="0" i="0">
                <a:solidFill>
                  <a:srgbClr val="1A2B26"/>
                </a:solidFill>
                <a:latin typeface="Calibri" panose="020F0502020204030204"/>
              </a:rPr>
              <a:t>isolated or stigmatised</a:t>
            </a:r>
            <a:r>
              <a:rPr lang="en-US" sz="1080" b="0" i="0">
                <a:solidFill>
                  <a:srgbClr val="1A2B26"/>
                </a:solidFill>
                <a:latin typeface="Calibri" panose="020F0502020204030204"/>
              </a:rPr>
              <a:t> because our environment will provide </a:t>
            </a:r>
            <a:r>
              <a:rPr sz="1080" b="0" i="0">
                <a:solidFill>
                  <a:srgbClr val="1A2B26"/>
                </a:solidFill>
                <a:latin typeface="Calibri" panose="020F0502020204030204"/>
              </a:rPr>
              <a:t>everyone</a:t>
            </a:r>
            <a:r>
              <a:rPr lang="en-US" sz="1080" b="0" i="0">
                <a:solidFill>
                  <a:srgbClr val="1A2B26"/>
                </a:solidFill>
                <a:latin typeface="Calibri" panose="020F0502020204030204"/>
              </a:rPr>
              <a:t> with</a:t>
            </a:r>
            <a:r>
              <a:rPr sz="1080" b="0" i="0">
                <a:solidFill>
                  <a:srgbClr val="1A2B26"/>
                </a:solidFill>
                <a:latin typeface="Calibri" panose="020F0502020204030204"/>
              </a:rPr>
              <a:t> clean air, </a:t>
            </a:r>
            <a:r>
              <a:rPr lang="en-US" sz="1080" b="0" i="0">
                <a:solidFill>
                  <a:srgbClr val="1A2B26"/>
                </a:solidFill>
                <a:latin typeface="Calibri" panose="020F0502020204030204"/>
              </a:rPr>
              <a:t>People will not have to stay indoors always because of polluted air, </a:t>
            </a:r>
            <a:r>
              <a:rPr sz="1080" b="0" i="0">
                <a:solidFill>
                  <a:srgbClr val="1A2B26"/>
                </a:solidFill>
                <a:latin typeface="Calibri" panose="020F0502020204030204"/>
              </a:rPr>
              <a:t>with </a:t>
            </a:r>
            <a:r>
              <a:rPr lang="en-US" sz="1080" b="0" i="0">
                <a:solidFill>
                  <a:srgbClr val="1A2B26"/>
                </a:solidFill>
                <a:latin typeface="Calibri" panose="020F0502020204030204"/>
              </a:rPr>
              <a:t> My </a:t>
            </a:r>
            <a:r>
              <a:rPr sz="1080" b="0" i="0">
                <a:solidFill>
                  <a:srgbClr val="1A2B26"/>
                </a:solidFill>
                <a:latin typeface="Calibri" panose="020F0502020204030204"/>
              </a:rPr>
              <a:t>BSBS installed in every home</a:t>
            </a:r>
            <a:r>
              <a:rPr lang="en-US" sz="1080" b="0" i="0">
                <a:solidFill>
                  <a:srgbClr val="1A2B26"/>
                </a:solidFill>
                <a:latin typeface="Calibri" panose="020F0502020204030204"/>
              </a:rPr>
              <a:t>, there will be a decrease in air pollution</a:t>
            </a:r>
            <a:endParaRPr lang="en-US" sz="1080" b="0" i="0">
              <a:solidFill>
                <a:srgbClr val="1A2B26"/>
              </a:solidFill>
              <a:latin typeface="Calibri" panose="020F0502020204030204"/>
            </a:endParaRPr>
          </a:p>
        </p:txBody>
      </p:sp>
      <p:sp>
        <p:nvSpPr>
          <p:cNvPr id="15" name="Rounded Rectangle 14"/>
          <p:cNvSpPr/>
          <p:nvPr/>
        </p:nvSpPr>
        <p:spPr>
          <a:xfrm>
            <a:off x="868680" y="5248656"/>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Environmental</a:t>
            </a:r>
            <a:endParaRPr sz="1300" b="1" i="0">
              <a:solidFill>
                <a:srgbClr val="1B7A4E"/>
              </a:solidFill>
              <a:latin typeface="Calibri" panose="020F0502020204030204"/>
            </a:endParaRPr>
          </a:p>
          <a:p>
            <a:pPr algn="l">
              <a:lnSpc>
                <a:spcPct val="100000"/>
              </a:lnSpc>
              <a:spcBef>
                <a:spcPts val="0"/>
              </a:spcBef>
              <a:spcAft>
                <a:spcPts val="600"/>
              </a:spcAft>
            </a:pPr>
            <a:r>
              <a:rPr lang="en-US" sz="1080" b="0" i="0">
                <a:solidFill>
                  <a:srgbClr val="1A2B26"/>
                </a:solidFill>
                <a:latin typeface="Calibri" panose="020F0502020204030204"/>
              </a:rPr>
              <a:t>Another exciting benefit of </a:t>
            </a:r>
            <a:r>
              <a:rPr sz="1080" b="0" i="0">
                <a:solidFill>
                  <a:srgbClr val="1A2B26"/>
                </a:solidFill>
                <a:latin typeface="Calibri" panose="020F0502020204030204"/>
              </a:rPr>
              <a:t>BSBS</a:t>
            </a:r>
            <a:r>
              <a:rPr lang="en-US" sz="1080" b="0" i="0">
                <a:solidFill>
                  <a:srgbClr val="1A2B26"/>
                </a:solidFill>
                <a:latin typeface="Calibri" panose="020F0502020204030204"/>
              </a:rPr>
              <a:t>is that it </a:t>
            </a:r>
            <a:r>
              <a:rPr sz="1080" b="0" i="0">
                <a:solidFill>
                  <a:srgbClr val="1A2B26"/>
                </a:solidFill>
                <a:latin typeface="Calibri" panose="020F0502020204030204"/>
              </a:rPr>
              <a:t> traps methane (a greenhouse gas) and</a:t>
            </a:r>
            <a:r>
              <a:rPr lang="en-US" sz="1080" b="0" i="0">
                <a:solidFill>
                  <a:srgbClr val="1A2B26"/>
                </a:solidFill>
                <a:latin typeface="Calibri" panose="020F0502020204030204"/>
              </a:rPr>
              <a:t> a major contributor to climate change. Moreover it </a:t>
            </a:r>
            <a:r>
              <a:rPr sz="1080" b="0" i="0">
                <a:solidFill>
                  <a:srgbClr val="1A2B26"/>
                </a:solidFill>
                <a:latin typeface="Calibri" panose="020F0502020204030204"/>
              </a:rPr>
              <a:t> provides a clean, renewable alternative to firewood and charcoal.</a:t>
            </a:r>
            <a:endParaRPr sz="1080" b="0" i="0">
              <a:solidFill>
                <a:srgbClr val="1A2B26"/>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THANK YOU</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Conclusion and Gratitude</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10</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TextBox 8"/>
          <p:cNvSpPr txBox="1"/>
          <p:nvPr/>
        </p:nvSpPr>
        <p:spPr>
          <a:xfrm>
            <a:off x="868680" y="1554480"/>
            <a:ext cx="105156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1" i="0">
                <a:solidFill>
                  <a:srgbClr val="1B7A4E"/>
                </a:solidFill>
                <a:latin typeface="Calibri" panose="020F0502020204030204"/>
              </a:rPr>
              <a:t>Bioclean Smart Biogas System (BSBS) — From Waste to Wealth: From Problem to Power.</a:t>
            </a:r>
            <a:endParaRPr sz="1600" b="1" i="0">
              <a:solidFill>
                <a:srgbClr val="1B7A4E"/>
              </a:solidFill>
              <a:latin typeface="Calibri" panose="020F0502020204030204"/>
            </a:endParaRPr>
          </a:p>
        </p:txBody>
      </p:sp>
      <p:sp>
        <p:nvSpPr>
          <p:cNvPr id="10" name="Rounded Rectangle 9"/>
          <p:cNvSpPr/>
          <p:nvPr/>
        </p:nvSpPr>
        <p:spPr>
          <a:xfrm>
            <a:off x="868680" y="2458720"/>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01</a:t>
            </a:r>
            <a:r>
              <a:rPr sz="1350" b="1" i="0">
                <a:solidFill>
                  <a:srgbClr val="0E3B2E"/>
                </a:solidFill>
                <a:latin typeface="Calibri" panose="020F0502020204030204"/>
              </a:rPr>
              <a:t>   The problem is real</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300 students suffer daily from gas fumes; waste causes bad odour and ₦1.</a:t>
            </a:r>
            <a:r>
              <a:rPr lang="en-US" sz="1100" b="0" i="0">
                <a:solidFill>
                  <a:srgbClr val="1A2B26"/>
                </a:solidFill>
                <a:latin typeface="Calibri" panose="020F0502020204030204"/>
              </a:rPr>
              <a:t>56</a:t>
            </a:r>
            <a:r>
              <a:rPr sz="1100" b="0" i="0">
                <a:solidFill>
                  <a:srgbClr val="1A2B26"/>
                </a:solidFill>
                <a:latin typeface="Calibri" panose="020F0502020204030204"/>
              </a:rPr>
              <a:t>m is wasted every year.</a:t>
            </a:r>
            <a:endParaRPr sz="1100" b="0" i="0">
              <a:solidFill>
                <a:srgbClr val="1A2B26"/>
              </a:solidFill>
              <a:latin typeface="Calibri" panose="020F0502020204030204"/>
            </a:endParaRPr>
          </a:p>
        </p:txBody>
      </p:sp>
      <p:sp>
        <p:nvSpPr>
          <p:cNvPr id="11" name="Rounded Rectangle 10"/>
          <p:cNvSpPr/>
          <p:nvPr/>
        </p:nvSpPr>
        <p:spPr>
          <a:xfrm>
            <a:off x="6172200" y="2458720"/>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02</a:t>
            </a:r>
            <a:r>
              <a:rPr sz="1350" b="1" i="0">
                <a:solidFill>
                  <a:srgbClr val="0E3B2E"/>
                </a:solidFill>
                <a:latin typeface="Calibri" panose="020F0502020204030204"/>
              </a:rPr>
              <a:t>   The solution works</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Biogas turns our biggest problem into our biggest asset: clean cooking, clean hostels, plus ₦1.8m net gain every year.</a:t>
            </a:r>
            <a:endParaRPr sz="1100" b="0" i="0">
              <a:solidFill>
                <a:srgbClr val="1A2B26"/>
              </a:solidFill>
              <a:latin typeface="Calibri" panose="020F0502020204030204"/>
            </a:endParaRPr>
          </a:p>
        </p:txBody>
      </p:sp>
      <p:sp>
        <p:nvSpPr>
          <p:cNvPr id="12" name="Rounded Rectangle 11"/>
          <p:cNvSpPr/>
          <p:nvPr/>
        </p:nvSpPr>
        <p:spPr>
          <a:xfrm>
            <a:off x="868680" y="3812032"/>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03</a:t>
            </a:r>
            <a:r>
              <a:rPr sz="1350" b="1" i="0">
                <a:solidFill>
                  <a:srgbClr val="0E3B2E"/>
                </a:solidFill>
                <a:latin typeface="Calibri" panose="020F0502020204030204"/>
              </a:rPr>
              <a:t>   The plan is ready</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₦2.65m total cost: ₦1m from </a:t>
            </a:r>
            <a:r>
              <a:rPr lang="en-US" sz="1100" b="0" i="0">
                <a:solidFill>
                  <a:srgbClr val="1A2B26"/>
                </a:solidFill>
                <a:latin typeface="Calibri" panose="020F0502020204030204"/>
              </a:rPr>
              <a:t>W</a:t>
            </a:r>
            <a:r>
              <a:rPr sz="1100" b="0" i="0">
                <a:solidFill>
                  <a:srgbClr val="1A2B26"/>
                </a:solidFill>
                <a:latin typeface="Calibri" panose="020F0502020204030204"/>
              </a:rPr>
              <a:t>ILAN, ₦1.65m from partners; 17-month payback and 15 years of impact.</a:t>
            </a:r>
            <a:endParaRPr sz="1100" b="0" i="0">
              <a:solidFill>
                <a:srgbClr val="1A2B26"/>
              </a:solidFill>
              <a:latin typeface="Calibri" panose="020F0502020204030204"/>
            </a:endParaRPr>
          </a:p>
        </p:txBody>
      </p:sp>
      <p:sp>
        <p:nvSpPr>
          <p:cNvPr id="13" name="Rounded Rectangle 12"/>
          <p:cNvSpPr/>
          <p:nvPr/>
        </p:nvSpPr>
        <p:spPr>
          <a:xfrm>
            <a:off x="6172200" y="3812032"/>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04</a:t>
            </a:r>
            <a:r>
              <a:rPr sz="1350" b="1" i="0">
                <a:solidFill>
                  <a:srgbClr val="0E3B2E"/>
                </a:solidFill>
                <a:latin typeface="Calibri" panose="020F0502020204030204"/>
              </a:rPr>
              <a:t>   The leadership is here</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With the BSBS Green Club and annual training, this impact will outlive me and inspire other schools in Enugu.</a:t>
            </a:r>
            <a:endParaRPr sz="1100" b="0" i="0">
              <a:solidFill>
                <a:srgbClr val="1A2B26"/>
              </a:solidFill>
              <a:latin typeface="Calibri" panose="020F0502020204030204"/>
            </a:endParaRPr>
          </a:p>
        </p:txBody>
      </p:sp>
      <p:sp>
        <p:nvSpPr>
          <p:cNvPr id="14" name="TextBox 13"/>
          <p:cNvSpPr txBox="1"/>
          <p:nvPr/>
        </p:nvSpPr>
        <p:spPr>
          <a:xfrm>
            <a:off x="868680" y="5224971"/>
            <a:ext cx="10515600" cy="1169035"/>
          </a:xfrm>
          <a:prstGeom prst="rect">
            <a:avLst/>
          </a:prstGeom>
          <a:noFill/>
        </p:spPr>
        <p:txBody>
          <a:bodyPr wrap="square" lIns="0" tIns="0" rIns="0" bIns="0" anchor="ctr">
            <a:spAutoFit/>
          </a:bodyPr>
          <a:lstStyle/>
          <a:p>
            <a:pPr algn="ctr">
              <a:lnSpc>
                <a:spcPct val="100000"/>
              </a:lnSpc>
              <a:spcBef>
                <a:spcPts val="0"/>
              </a:spcBef>
              <a:spcAft>
                <a:spcPts val="300"/>
              </a:spcAft>
            </a:pPr>
            <a:r>
              <a:rPr sz="1400" b="1" i="0">
                <a:solidFill>
                  <a:srgbClr val="0E3B2E"/>
                </a:solidFill>
                <a:latin typeface="Calibri" panose="020F0502020204030204"/>
              </a:rPr>
              <a:t>Invest ₦1,000,000 in me today. In return, WILAN gets a national model of student-led climate action that saves money, saves the planet and saves lives.</a:t>
            </a:r>
            <a:endParaRPr sz="1400" b="1" i="0">
              <a:solidFill>
                <a:srgbClr val="0E3B2E"/>
              </a:solidFill>
              <a:latin typeface="Calibri" panose="020F0502020204030204"/>
            </a:endParaRPr>
          </a:p>
          <a:p>
            <a:pPr algn="ctr">
              <a:lnSpc>
                <a:spcPct val="100000"/>
              </a:lnSpc>
              <a:spcBef>
                <a:spcPts val="0"/>
              </a:spcBef>
              <a:spcAft>
                <a:spcPts val="300"/>
              </a:spcAft>
            </a:pPr>
            <a:r>
              <a:rPr sz="1300" b="0" i="0">
                <a:solidFill>
                  <a:srgbClr val="1A2B26"/>
                </a:solidFill>
                <a:latin typeface="Calibri" panose="020F0502020204030204"/>
              </a:rPr>
              <a:t>This is not just a project — this is my legacy.</a:t>
            </a:r>
            <a:endParaRPr sz="1300" b="0" i="0">
              <a:solidFill>
                <a:srgbClr val="1A2B26"/>
              </a:solidFill>
              <a:latin typeface="Calibri" panose="020F0502020204030204"/>
            </a:endParaRPr>
          </a:p>
          <a:p>
            <a:pPr algn="ctr">
              <a:lnSpc>
                <a:spcPct val="100000"/>
              </a:lnSpc>
              <a:spcBef>
                <a:spcPts val="0"/>
              </a:spcBef>
              <a:spcAft>
                <a:spcPts val="300"/>
              </a:spcAft>
            </a:pPr>
            <a:r>
              <a:rPr sz="1600" b="1" i="0">
                <a:solidFill>
                  <a:srgbClr val="1B7A4E"/>
                </a:solidFill>
                <a:latin typeface="Calibri" panose="020F0502020204030204"/>
              </a:rPr>
              <a:t>Let’s Breathe In Clean Air together.</a:t>
            </a:r>
            <a:endParaRPr sz="1600" b="1" i="0">
              <a:solidFill>
                <a:srgbClr val="1B7A4E"/>
              </a:solidFill>
              <a:latin typeface="Calibri" panose="020F0502020204030204"/>
            </a:endParaRPr>
          </a:p>
          <a:p>
            <a:pPr algn="ctr">
              <a:lnSpc>
                <a:spcPct val="100000"/>
              </a:lnSpc>
              <a:spcBef>
                <a:spcPts val="0"/>
              </a:spcBef>
              <a:spcAft>
                <a:spcPts val="0"/>
              </a:spcAft>
            </a:pPr>
            <a:r>
              <a:rPr sz="1150" b="0" i="0">
                <a:solidFill>
                  <a:srgbClr val="5A6B66"/>
                </a:solidFill>
                <a:latin typeface="Calibri" panose="020F0502020204030204"/>
              </a:rPr>
              <a:t>Thank you, </a:t>
            </a:r>
            <a:r>
              <a:rPr lang="en-US" sz="1150" b="0" i="0">
                <a:solidFill>
                  <a:srgbClr val="5A6B66"/>
                </a:solidFill>
                <a:latin typeface="Calibri" panose="020F0502020204030204"/>
              </a:rPr>
              <a:t>W</a:t>
            </a:r>
            <a:r>
              <a:rPr sz="1150" b="0" i="0">
                <a:solidFill>
                  <a:srgbClr val="5A6B66"/>
                </a:solidFill>
                <a:latin typeface="Calibri" panose="020F0502020204030204"/>
              </a:rPr>
              <a:t>ILAN, for this opportunity to change my school, community, nation, continent and the whole world.</a:t>
            </a:r>
            <a:endParaRPr sz="1150" b="0" i="0">
              <a:solidFill>
                <a:srgbClr val="5A6B66"/>
              </a:solidFill>
              <a:latin typeface="Calibri" panose="020F0502020204030204"/>
            </a:endParaRPr>
          </a:p>
        </p:txBody>
      </p:sp>
      <p:sp>
        <p:nvSpPr>
          <p:cNvPr id="15" name="Text Box 14"/>
          <p:cNvSpPr txBox="1"/>
          <p:nvPr/>
        </p:nvSpPr>
        <p:spPr>
          <a:xfrm>
            <a:off x="3078480" y="1845310"/>
            <a:ext cx="6096000" cy="482600"/>
          </a:xfrm>
          <a:prstGeom prst="rect">
            <a:avLst/>
          </a:prstGeom>
          <a:noFill/>
        </p:spPr>
        <p:txBody>
          <a:bodyPr wrap="square" rtlCol="0" anchor="t">
            <a:spAutoFit/>
          </a:bodyPr>
          <a:p>
            <a:pPr algn="l">
              <a:lnSpc>
                <a:spcPct val="98000"/>
              </a:lnSpc>
              <a:spcBef>
                <a:spcPts val="0"/>
              </a:spcBef>
              <a:spcAft>
                <a:spcPts val="0"/>
              </a:spcAft>
            </a:pPr>
            <a:r>
              <a:rPr lang="en-US" altLang="en-GB" sz="2600" b="1">
                <a:solidFill>
                  <a:srgbClr val="0E3B2E"/>
                </a:solidFill>
                <a:latin typeface="Calibri" panose="020F0502020204030204"/>
                <a:sym typeface="+mn-ea"/>
              </a:rPr>
              <a:t> WHY ME!!! WHY WILAN!!! WHY NOW!!</a:t>
            </a:r>
            <a:endParaRPr lang="en-US" altLang="en-GB" sz="2600" b="1">
              <a:solidFill>
                <a:srgbClr val="0E3B2E"/>
              </a:solidFill>
              <a:latin typeface="Calibri" panose="020F0502020204030204"/>
              <a:sym typeface="+mn-ea"/>
            </a:endParaRPr>
          </a:p>
        </p:txBody>
      </p:sp>
    </p:spTree>
  </p:cSld>
  <p:clrMapOvr>
    <a:masterClrMapping/>
  </p:clrMapOvr>
</p:sld>
</file>

<file path=ppt/tags/tag1.xml><?xml version="1.0" encoding="utf-8"?>
<p:tagLst xmlns:p="http://schemas.openxmlformats.org/presentationml/2006/main">
  <p:tag name="TABLE_ENDDRAG_ORIGIN_RECT" val="828*297"/>
  <p:tag name="TABLE_ENDDRAG_RECT" val="68*214*828*297"/>
</p:tagLst>
</file>

<file path=ppt/tags/tag2.xml><?xml version="1.0" encoding="utf-8"?>
<p:tagLst xmlns:p="http://schemas.openxmlformats.org/presentationml/2006/main">
  <p:tag name="TABLE_ENDDRAG_ORIGIN_RECT" val="833*188"/>
  <p:tag name="TABLE_ENDDRAG_RECT" val="56*172*833*188"/>
</p:tagLst>
</file>

<file path=ppt/tags/tag3.xml><?xml version="1.0" encoding="utf-8"?>
<p:tagLst xmlns:p="http://schemas.openxmlformats.org/presentationml/2006/main">
  <p:tag name="TABLE_ENDDRAG_ORIGIN_RECT" val="833*188"/>
  <p:tag name="TABLE_ENDDRAG_RECT" val="56*172*833*18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9056</Words>
  <Application>WPS Presentation</Application>
  <PresentationFormat>On-screen Show (4:3)</PresentationFormat>
  <Paragraphs>351</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akach</cp:lastModifiedBy>
  <cp:revision>10</cp:revision>
  <dcterms:created xsi:type="dcterms:W3CDTF">2013-01-27T09:14:00Z</dcterms:created>
  <dcterms:modified xsi:type="dcterms:W3CDTF">2026-09-11T07:58:00Z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7FBBD8983E10454FBAC8FE26E4CEBE1B_13</vt:lpwstr>
  </property>
  <property fmtid="{D5CDD505-2E9C-101B-9397-08002B2CF9AE}" pid="3" name="KSOProductBuildVer">
    <vt:lpwstr>2057-12.2.0.23206</vt:lpwstr>
  </property>
</Properties>
</file>