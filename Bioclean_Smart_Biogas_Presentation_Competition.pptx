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5"/>
    <p:sldId id="264" r:id="rId4"/>
    <p:sldId id="265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70">
                <a:solidFill>
                  <a:srgbClr val="E99A00"/>
                </a:solidFill>
                <a:latin typeface="Calibri"/>
              </a:rPr>
              <a:t>BIOCLEAN  ·  SCHOOL &amp; COMMUNITY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6583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spc="30">
                <a:solidFill>
                  <a:srgbClr val="FFFFFF"/>
                </a:solidFill>
                <a:latin typeface="Calibri"/>
              </a:rPr>
              <a:t>BIOCLEAN SMART</a:t>
            </a:r>
          </a:p>
          <a:p>
            <a:pPr algn="l">
              <a:spcAft>
                <a:spcPts val="600"/>
              </a:spcAft>
            </a:pPr>
            <a:r>
              <a:rPr sz="4000" b="1" spc="30">
                <a:solidFill>
                  <a:srgbClr val="FFFFFF"/>
                </a:solidFill>
                <a:latin typeface="Calibri"/>
              </a:rPr>
              <a:t>BIOGAS SYSTEM</a:t>
            </a:r>
          </a:p>
          <a:p>
            <a:pPr algn="l"/>
            <a:r>
              <a:rPr sz="1700" b="1" spc="60">
                <a:solidFill>
                  <a:srgbClr val="2E8B57"/>
                </a:solidFill>
                <a:latin typeface="Calibri"/>
              </a:rPr>
              <a:t>(BSBS)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27248"/>
            <a:ext cx="5623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>
                <a:solidFill>
                  <a:srgbClr val="E8F3EC"/>
                </a:solidFill>
                <a:latin typeface="Calibri"/>
              </a:rPr>
              <a:t>Combating Air Pollution in Schools and Communities in Enugu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41648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8F3EC"/>
                </a:solidFill>
                <a:latin typeface="Calibri"/>
              </a:rPr>
              <a:t>Creating a healthy environment for better learning and healthier living.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590288"/>
            <a:ext cx="3108960" cy="25603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7316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200">
                <a:solidFill>
                  <a:srgbClr val="5A6B66"/>
                </a:solidFill>
                <a:latin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47488"/>
            <a:ext cx="6309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Chinwuba Chinwendu Jennifer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68112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E8F3EC"/>
                </a:solidFill>
                <a:latin typeface="Calibri"/>
              </a:rPr>
              <a:t>Head Girl  ·  Federal Government College, Enugu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989320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spc="80">
                <a:solidFill>
                  <a:srgbClr val="FFFFFF"/>
                </a:solidFill>
                <a:latin typeface="Calibri"/>
              </a:rPr>
              <a:t>WASTE  →  ENERGY</a:t>
            </a:r>
          </a:p>
        </p:txBody>
      </p:sp>
      <p:pic>
        <p:nvPicPr>
          <p:cNvPr id="14" name="Picture 1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234440"/>
            <a:ext cx="5029200" cy="3346704"/>
          </a:xfrm>
          <a:prstGeom prst="rect">
            <a:avLst/>
          </a:prstGeom>
        </p:spPr>
      </p:pic>
      <p:pic>
        <p:nvPicPr>
          <p:cNvPr id="15" name="Picture 14" descr="image2.jpe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7296912" cy="78912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75488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60">
                <a:solidFill>
                  <a:srgbClr val="1B7A4E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149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3B2E"/>
                </a:solidFill>
                <a:latin typeface="Calibri"/>
              </a:rPr>
              <a:t>Meet the Presenter &amp; the Issue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02336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2881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70">
                <a:solidFill>
                  <a:srgbClr val="5A6B66"/>
                </a:solidFill>
                <a:latin typeface="Calibri"/>
              </a:rPr>
              <a:t>BIOCLEAN SMART BIOGAS SYSTEM  ·  BSBS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64208"/>
            <a:ext cx="3977639" cy="4526280"/>
          </a:xfrm>
          <a:prstGeom prst="roundRect">
            <a:avLst>
              <a:gd name="adj" fmla="val 5000"/>
            </a:avLst>
          </a:prstGeom>
          <a:solidFill>
            <a:srgbClr val="E8F3EC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193852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 spc="120">
                <a:solidFill>
                  <a:srgbClr val="FFFFFF"/>
                </a:solidFill>
                <a:latin typeface="Calibri"/>
              </a:rPr>
              <a:t>THE PRESENTER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95728"/>
            <a:ext cx="3429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0E3B2E"/>
                </a:solidFill>
                <a:latin typeface="Calibri"/>
              </a:rPr>
              <a:t>Chinwuba Chinwendu Jennifer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B7A4E"/>
                </a:solidFill>
                <a:latin typeface="Calibri"/>
              </a:rPr>
              <a:t>Head Girl · Federal Government College, Enugu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01568"/>
            <a:ext cx="345643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1A2B26"/>
                </a:solidFill>
                <a:latin typeface="Calibri"/>
              </a:rPr>
              <a:t>As Head Girl, I work with our Green Club, the school management and the P.T.A. to make our campus a healthier, cleaner place to learn — and to give our community a model it can copy.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8" y="1664208"/>
            <a:ext cx="6245352" cy="841248"/>
          </a:xfrm>
          <a:prstGeom prst="roundRect">
            <a:avLst>
              <a:gd name="adj" fmla="val 14000"/>
            </a:avLst>
          </a:prstGeom>
          <a:solidFill>
            <a:srgbClr val="0E3B2E"/>
          </a:solidFill>
          <a:ln w="12700">
            <a:solidFill>
              <a:srgbClr val="0E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" bIns="27432"/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Our school and our community breathe air that is harming us — and I have designed a fix.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2697480"/>
            <a:ext cx="6245352" cy="969264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0096" y="3026664"/>
            <a:ext cx="118872" cy="310896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4416" y="2825496"/>
            <a:ext cx="5559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40">
                <a:solidFill>
                  <a:srgbClr val="1B7A4E"/>
                </a:solidFill>
                <a:latin typeface="Calibri"/>
              </a:rPr>
              <a:t>IN THE HOSTELS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3099816"/>
            <a:ext cx="55595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A2B26"/>
                </a:solidFill>
                <a:latin typeface="Calibri"/>
              </a:rPr>
              <a:t>Sewage and open dumps release ammonia (NH₃) and hydrogen sulphide (H₂S) — students report drowsiness and nausea.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38928" y="3776472"/>
            <a:ext cx="6245352" cy="969264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40096" y="4105656"/>
            <a:ext cx="118872" cy="310896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4416" y="3904487"/>
            <a:ext cx="5559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40">
                <a:solidFill>
                  <a:srgbClr val="1B7A4E"/>
                </a:solidFill>
                <a:latin typeface="Calibri"/>
              </a:rPr>
              <a:t>ON CAMPUS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4178808"/>
            <a:ext cx="55595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A2B26"/>
                </a:solidFill>
                <a:latin typeface="Calibri"/>
              </a:rPr>
              <a:t>Waste is burned on the premises; the smoke makes some classrooms hard to breathe 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8928" y="4855464"/>
            <a:ext cx="6245352" cy="969264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40096" y="5184648"/>
            <a:ext cx="118872" cy="310896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14416" y="4983479"/>
            <a:ext cx="5559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40">
                <a:solidFill>
                  <a:srgbClr val="1B7A4E"/>
                </a:solidFill>
                <a:latin typeface="Calibri"/>
              </a:rPr>
              <a:t>IN THE COMMUNITY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5257800"/>
            <a:ext cx="55595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A2B26"/>
                </a:solidFill>
                <a:latin typeface="Calibri"/>
              </a:rPr>
              <a:t>Homes rely on charcoal, firewood and generators — releasing carbon monoxide (CO) and other pollutants.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38928" y="5870448"/>
            <a:ext cx="6245352" cy="475488"/>
          </a:xfrm>
          <a:prstGeom prst="roundRect">
            <a:avLst>
              <a:gd name="adj" fmla="val 50000"/>
            </a:avLst>
          </a:prstGeom>
          <a:solidFill>
            <a:srgbClr val="FCEFDC"/>
          </a:solidFill>
          <a:ln w="12700">
            <a:solidFill>
              <a:srgbClr val="E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sz="1050" b="1">
                <a:solidFill>
                  <a:srgbClr val="1A2B26"/>
                </a:solidFill>
                <a:latin typeface="Calibri"/>
              </a:rPr>
              <a:t>This entry presents my proposed solution: the Bioclean Smart Biogas System (BSBS).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75488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60">
                <a:solidFill>
                  <a:srgbClr val="1B7A4E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149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3B2E"/>
                </a:solidFill>
                <a:latin typeface="Calibri"/>
              </a:rPr>
              <a:t>A Problem We Breathe Every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02336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2881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70">
                <a:solidFill>
                  <a:srgbClr val="5A6B66"/>
                </a:solidFill>
                <a:latin typeface="Calibri"/>
              </a:rPr>
              <a:t>BIOCLEAN SMART BIOGAS SYSTEM  ·  BSBS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27632"/>
            <a:ext cx="10515600" cy="841248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" bIns="27432"/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1A2B26"/>
                </a:solidFill>
                <a:latin typeface="Calibri"/>
              </a:rPr>
              <a:t>Air pollution means harmful substances released into the air in quantities that damage health and climate — PM2.5 &amp; PM10, CO, SO₂, NO₂, ozone and methane.  </a:t>
            </a:r>
            <a:r>
              <a:rPr sz="1150" b="1">
                <a:solidFill>
                  <a:srgbClr val="0E3B2E"/>
                </a:solidFill>
                <a:latin typeface="Calibri"/>
              </a:rPr>
              <a:t>The WHO reports about 6.7 million premature deaths from air pollution every year.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51760"/>
            <a:ext cx="5184648" cy="1371600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16352"/>
            <a:ext cx="384048" cy="384048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852928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E3B2E"/>
                </a:solidFill>
                <a:latin typeface="Calibri"/>
              </a:rPr>
              <a:t>Toxic gas from sewage &amp; dumps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163824"/>
            <a:ext cx="43159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A2B26"/>
                </a:solidFill>
                <a:latin typeface="Calibri"/>
              </a:rPr>
              <a:t>Ammonia (NH₃) and hydrogen sulphide (H₂S) build up around the hostels; students report drowsiness and nausea.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651760"/>
            <a:ext cx="5184648" cy="1371600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16352"/>
            <a:ext cx="384048" cy="384048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4" y="2852928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E3B2E"/>
                </a:solidFill>
                <a:latin typeface="Calibri"/>
              </a:rPr>
              <a:t>Smoke from burning waste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3163824"/>
            <a:ext cx="43159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A2B26"/>
                </a:solidFill>
                <a:latin typeface="Calibri"/>
              </a:rPr>
              <a:t>Waste is burned on campus. Students inhale the smoke — some no longer enter classes because they cannot breathe comfortably.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133087"/>
            <a:ext cx="5184648" cy="1371600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297679"/>
            <a:ext cx="384048" cy="384048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334255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E3B2E"/>
                </a:solidFill>
                <a:latin typeface="Calibri"/>
              </a:rPr>
              <a:t>Charcoal, firewood &amp; generators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645152"/>
            <a:ext cx="43159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A2B26"/>
                </a:solidFill>
                <a:latin typeface="Calibri"/>
              </a:rPr>
              <a:t>In the community, CO from burning fuel binds to the blood’s haemoglobin and cuts off oxygen — a risk of severe illness or death.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4133087"/>
            <a:ext cx="5184648" cy="1371600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8232" y="4297679"/>
            <a:ext cx="384048" cy="384048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4334255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E3B2E"/>
                </a:solidFill>
                <a:latin typeface="Calibri"/>
              </a:rPr>
              <a:t>Failing sewage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4645152"/>
            <a:ext cx="43159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A2B26"/>
                </a:solidFill>
                <a:latin typeface="Calibri"/>
              </a:rPr>
              <a:t>Broken septic tanks and leaking sewage pipes release odour and harmful gases into the neighbourhood.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742432"/>
            <a:ext cx="10515600" cy="548640"/>
          </a:xfrm>
          <a:prstGeom prst="roundRect">
            <a:avLst>
              <a:gd name="adj" fmla="val 50000"/>
            </a:avLst>
          </a:prstGeom>
          <a:solidFill>
            <a:srgbClr val="FCEFDC"/>
          </a:solidFill>
          <a:ln w="12700">
            <a:solidFill>
              <a:srgbClr val="E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" bIns="27432"/>
          <a:lstStyle/>
          <a:p>
            <a:pPr algn="l"/>
            <a:r>
              <a:rPr sz="1150" b="1">
                <a:solidFill>
                  <a:srgbClr val="1A2B26"/>
                </a:solidFill>
                <a:latin typeface="Calibri"/>
              </a:rPr>
              <a:t>Every day, 300 students live with the fumes </a:t>
            </a:r>
            <a:r>
              <a:rPr sz="1150" b="0">
                <a:solidFill>
                  <a:srgbClr val="1A2B26"/>
                </a:solidFill>
                <a:latin typeface="Calibri"/>
              </a:rPr>
              <a:t>— and families lose health, income and productive time to the same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75488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60">
                <a:solidFill>
                  <a:srgbClr val="1B7A4E"/>
                </a:solidFill>
                <a:latin typeface="Calibri"/>
              </a:rPr>
              <a:t>PROPOSED SOLUTION ·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149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3B2E"/>
                </a:solidFill>
                <a:latin typeface="Calibri"/>
              </a:rPr>
              <a:t>What Is the Bioclean Smart Biogas System?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02336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2881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70">
                <a:solidFill>
                  <a:srgbClr val="5A6B66"/>
                </a:solidFill>
                <a:latin typeface="Calibri"/>
              </a:rPr>
              <a:t>BIOCLEAN SMART BIOGAS SYSTEM  ·  BSBS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27632"/>
            <a:ext cx="10515600" cy="896112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" bIns="27432"/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1A2B26"/>
                </a:solidFill>
                <a:latin typeface="Calibri"/>
              </a:rPr>
              <a:t>BSBS is a modular biogas system that converts the organic waste our school and community already produce — from </a:t>
            </a:r>
            <a:r>
              <a:rPr sz="1150" b="1">
                <a:solidFill>
                  <a:srgbClr val="0E3B2E"/>
                </a:solidFill>
                <a:latin typeface="Calibri"/>
              </a:rPr>
              <a:t>toilets, kitchens and livestock</a:t>
            </a:r>
            <a:r>
              <a:rPr sz="1150" b="0">
                <a:solidFill>
                  <a:srgbClr val="1A2B26"/>
                </a:solidFill>
                <a:latin typeface="Calibri"/>
              </a:rPr>
              <a:t> — into clean cooking energy and organic fertiliser, through anaerobic digestion.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2491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1B7A4E"/>
                </a:solidFill>
                <a:latin typeface="Calibri"/>
              </a:rPr>
              <a:t>THE CORE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35808"/>
            <a:ext cx="1572768" cy="566928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 spc="40">
                <a:solidFill>
                  <a:srgbClr val="FFFFFF"/>
                </a:solidFill>
                <a:latin typeface="Calibri"/>
              </a:rPr>
              <a:t>ORGANIC WASTE</a:t>
            </a:r>
          </a:p>
        </p:txBody>
      </p:sp>
      <p:sp>
        <p:nvSpPr>
          <p:cNvPr id="12" name="Chevron 11"/>
          <p:cNvSpPr/>
          <p:nvPr/>
        </p:nvSpPr>
        <p:spPr>
          <a:xfrm>
            <a:off x="2459736" y="3200400"/>
            <a:ext cx="219456" cy="237744"/>
          </a:xfrm>
          <a:prstGeom prst="chevron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97480" y="3035808"/>
            <a:ext cx="1572768" cy="566928"/>
          </a:xfrm>
          <a:prstGeom prst="roundRect">
            <a:avLst>
              <a:gd name="adj" fmla="val 50000"/>
            </a:avLst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 spc="40">
                <a:solidFill>
                  <a:srgbClr val="FFFFFF"/>
                </a:solidFill>
                <a:latin typeface="Calibri"/>
              </a:rPr>
              <a:t>ANAEROBIC DIGESTION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4288536" y="3200400"/>
            <a:ext cx="219456" cy="237744"/>
          </a:xfrm>
          <a:prstGeom prst="chevron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3035808"/>
            <a:ext cx="1572768" cy="56692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 spc="40">
                <a:solidFill>
                  <a:srgbClr val="FFFFFF"/>
                </a:solidFill>
                <a:latin typeface="Calibri"/>
              </a:rPr>
              <a:t>CLEAN BIOGAS</a:t>
            </a:r>
          </a:p>
        </p:txBody>
      </p:sp>
      <p:sp>
        <p:nvSpPr>
          <p:cNvPr id="16" name="Chevron 15"/>
          <p:cNvSpPr/>
          <p:nvPr/>
        </p:nvSpPr>
        <p:spPr>
          <a:xfrm>
            <a:off x="6117336" y="3200400"/>
            <a:ext cx="219456" cy="237744"/>
          </a:xfrm>
          <a:prstGeom prst="chevron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3035808"/>
            <a:ext cx="1572768" cy="566928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 spc="40">
                <a:solidFill>
                  <a:srgbClr val="FFFFFF"/>
                </a:solidFill>
                <a:latin typeface="Calibri"/>
              </a:rPr>
              <a:t>COOKING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9417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A6B66"/>
                </a:solidFill>
                <a:latin typeface="Calibri"/>
              </a:rPr>
              <a:t>+ organic fertiliser from the residue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61103"/>
            <a:ext cx="118872" cy="310896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133087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3B2E"/>
                </a:solidFill>
                <a:latin typeface="Calibri"/>
              </a:rPr>
              <a:t>Stop the smoke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07407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A2B26"/>
                </a:solidFill>
                <a:latin typeface="Calibri"/>
              </a:rPr>
              <a:t>Collected waste is digested, not burned — ending open burning on campus.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74336"/>
            <a:ext cx="118872" cy="310896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846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3B2E"/>
                </a:solidFill>
                <a:latin typeface="Calibri"/>
              </a:rPr>
              <a:t>Replace dirty fuel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20640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A2B26"/>
                </a:solidFill>
                <a:latin typeface="Calibri"/>
              </a:rPr>
              <a:t>Clean biogas for cooking (and later generators) instead of LPG, firewood, charcoal or diesel.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687568"/>
            <a:ext cx="118872" cy="310896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5595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3B2E"/>
                </a:solidFill>
                <a:latin typeface="Calibri"/>
              </a:rPr>
              <a:t>Turn problem into asset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833872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A2B26"/>
                </a:solidFill>
                <a:latin typeface="Calibri"/>
              </a:rPr>
              <a:t>The same waste and sewage that pollute our air become our energy and our fertiliser.</a:t>
            </a:r>
          </a:p>
        </p:txBody>
      </p:sp>
      <p:pic>
        <p:nvPicPr>
          <p:cNvPr id="28" name="Picture 2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675887"/>
            <a:ext cx="3657600" cy="24323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26679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6B66"/>
                </a:solidFill>
                <a:latin typeface="Calibri"/>
              </a:rPr>
              <a:t>A BSBS digester: waste goes in — clean energy and fertiliser come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75488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60">
                <a:solidFill>
                  <a:srgbClr val="1B7A4E"/>
                </a:solidFill>
                <a:latin typeface="Calibri"/>
              </a:rPr>
              <a:t>PROPOSED SOLUTION ·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149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3B2E"/>
                </a:solidFill>
                <a:latin typeface="Calibri"/>
              </a:rPr>
              <a:t>How the System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02336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2881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70">
                <a:solidFill>
                  <a:srgbClr val="5A6B66"/>
                </a:solidFill>
                <a:latin typeface="Calibri"/>
              </a:rPr>
              <a:t>BIOCLEAN SMART BIOGAS SYSTEM  ·  BSBS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64208"/>
            <a:ext cx="2519172" cy="1627632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5" y="1792224"/>
            <a:ext cx="347472" cy="347472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828800"/>
            <a:ext cx="18333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Waste 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2231136"/>
            <a:ext cx="22265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Inlet from toilets, kitchens &amp; livestock; mobile tank and farm hopper.</a:t>
            </a:r>
          </a:p>
        </p:txBody>
      </p:sp>
      <p:sp>
        <p:nvSpPr>
          <p:cNvPr id="13" name="Chevron 12"/>
          <p:cNvSpPr/>
          <p:nvPr/>
        </p:nvSpPr>
        <p:spPr>
          <a:xfrm>
            <a:off x="3401568" y="2395728"/>
            <a:ext cx="118872" cy="164592"/>
          </a:xfrm>
          <a:prstGeom prst="chevron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4156" y="1664208"/>
            <a:ext cx="2519172" cy="1627632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62172" y="1792224"/>
            <a:ext cx="347472" cy="347472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1084" y="1828800"/>
            <a:ext cx="18333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Pre-treatment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0460" y="2231136"/>
            <a:ext cx="22265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Pre-filter &amp; mixing tank remove plastics and sand; waste is mixed with water for the microbes.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67044" y="2395728"/>
            <a:ext cx="118872" cy="164592"/>
          </a:xfrm>
          <a:prstGeom prst="chevron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9632" y="1664208"/>
            <a:ext cx="2519172" cy="1627632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27648" y="1792224"/>
            <a:ext cx="347472" cy="347472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828800"/>
            <a:ext cx="18333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Anaerobic digestion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231136"/>
            <a:ext cx="22265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Modular digester with accelerated microbes &amp; temperature control — gas in 7 days, not 30.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32520" y="2395728"/>
            <a:ext cx="118872" cy="164592"/>
          </a:xfrm>
          <a:prstGeom prst="chevron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65108" y="1664208"/>
            <a:ext cx="2519172" cy="1627632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93124" y="1792224"/>
            <a:ext cx="347472" cy="347472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2036" y="1828800"/>
            <a:ext cx="18333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Gas collection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1412" y="2231136"/>
            <a:ext cx="22265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Outlet pipes and the gas-passage network carry raw biogas out of the digester.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529584"/>
            <a:ext cx="2519172" cy="1627632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5" y="3657600"/>
            <a:ext cx="347472" cy="347472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3694176"/>
            <a:ext cx="18333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Purification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3" y="4096511"/>
            <a:ext cx="22265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Water scrubber &amp; H₂S filter remove water vapour and toxic hydrogen sulphide.</a:t>
            </a:r>
          </a:p>
        </p:txBody>
      </p:sp>
      <p:sp>
        <p:nvSpPr>
          <p:cNvPr id="32" name="Chevron 31"/>
          <p:cNvSpPr/>
          <p:nvPr/>
        </p:nvSpPr>
        <p:spPr>
          <a:xfrm>
            <a:off x="3401568" y="4261104"/>
            <a:ext cx="118872" cy="164592"/>
          </a:xfrm>
          <a:prstGeom prst="chevron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34156" y="3529584"/>
            <a:ext cx="2519172" cy="1627632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62172" y="3657600"/>
            <a:ext cx="347472" cy="347472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01084" y="3694176"/>
            <a:ext cx="18333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0460" y="4096511"/>
            <a:ext cx="22265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Clean biogas is held in low-pressure gas storage bags.</a:t>
            </a:r>
          </a:p>
        </p:txBody>
      </p:sp>
      <p:sp>
        <p:nvSpPr>
          <p:cNvPr id="37" name="Chevron 36"/>
          <p:cNvSpPr/>
          <p:nvPr/>
        </p:nvSpPr>
        <p:spPr>
          <a:xfrm>
            <a:off x="6067044" y="4261104"/>
            <a:ext cx="118872" cy="164592"/>
          </a:xfrm>
          <a:prstGeom prst="chevron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99632" y="3529584"/>
            <a:ext cx="2519172" cy="1627632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27648" y="3657600"/>
            <a:ext cx="347472" cy="347472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694176"/>
            <a:ext cx="18333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Distribution &amp;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4096511"/>
            <a:ext cx="22265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HDPE pipeline runs to the kitchen or generator point via the converter kit.</a:t>
            </a:r>
          </a:p>
        </p:txBody>
      </p:sp>
      <p:sp>
        <p:nvSpPr>
          <p:cNvPr id="42" name="Chevron 41"/>
          <p:cNvSpPr/>
          <p:nvPr/>
        </p:nvSpPr>
        <p:spPr>
          <a:xfrm>
            <a:off x="8732520" y="4261104"/>
            <a:ext cx="118872" cy="164592"/>
          </a:xfrm>
          <a:prstGeom prst="chevron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65108" y="3529584"/>
            <a:ext cx="2519172" cy="1627632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93124" y="3657600"/>
            <a:ext cx="347472" cy="347472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32036" y="3694176"/>
            <a:ext cx="18333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Residue handling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11412" y="4096511"/>
            <a:ext cx="22265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Slurry outlet &amp; drying bed turn the residue into organic fertiliser.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11018520" y="3273552"/>
            <a:ext cx="274320" cy="182880"/>
          </a:xfrm>
          <a:prstGeom prst="downArrow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68680" y="5413248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0E3B2E"/>
          </a:solidFill>
          <a:ln w="12700">
            <a:solidFill>
              <a:srgbClr val="0E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" bIns="27432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Usable gas in as little as 7 days.   </a:t>
            </a:r>
            <a:r>
              <a:rPr sz="1050" b="0">
                <a:solidFill>
                  <a:srgbClr val="E8F3EC"/>
                </a:solidFill>
                <a:latin typeface="Calibri"/>
              </a:rPr>
              <a:t>Gas pressure and temperature are watched continuously by IoT sensors, AI and a mobile app — with alerts sent straight to the operator.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75488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60">
                <a:solidFill>
                  <a:srgbClr val="1B7A4E"/>
                </a:solidFill>
                <a:latin typeface="Calibri"/>
              </a:rPr>
              <a:t>PROPOSED SOLUTION ·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149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3B2E"/>
                </a:solidFill>
                <a:latin typeface="Calibri"/>
              </a:rPr>
              <a:t>What Makes BSBS Innovative?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02336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2881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70">
                <a:solidFill>
                  <a:srgbClr val="5A6B66"/>
                </a:solidFill>
                <a:latin typeface="Calibri"/>
              </a:rPr>
              <a:t>BIOCLEAN SMART BIOGAS SYSTEM  ·  BSBS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64208"/>
            <a:ext cx="3407968" cy="1755648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1" y="18105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C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 spc="120">
                <a:solidFill>
                  <a:srgbClr val="E99A00"/>
                </a:solidFill>
                <a:latin typeface="Calibri"/>
              </a:rPr>
              <a:t>7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212848"/>
            <a:ext cx="3078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3B2E"/>
                </a:solidFill>
                <a:latin typeface="Calibri"/>
              </a:rPr>
              <a:t>Accelerated digestion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32888"/>
            <a:ext cx="3078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Enhanced microbial action plus temperature control cuts gas production from about 30 days to about 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2952" y="1664208"/>
            <a:ext cx="3407968" cy="1755648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7544" y="18105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C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 spc="120">
                <a:solidFill>
                  <a:srgbClr val="E99A00"/>
                </a:solidFill>
                <a:latin typeface="Calibri"/>
              </a:rPr>
              <a:t>SAFE GAS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544" y="2212848"/>
            <a:ext cx="3078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3B2E"/>
                </a:solidFill>
                <a:latin typeface="Calibri"/>
              </a:rPr>
              <a:t>Biogas purification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544" y="2532888"/>
            <a:ext cx="3078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A water scrubber and H₂S filter remove vapour and toxic hydrogen sulphide — giving gas safe for cooking.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7225" y="1664208"/>
            <a:ext cx="3407968" cy="1755648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1817" y="18105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C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 spc="120">
                <a:solidFill>
                  <a:srgbClr val="E99A00"/>
                </a:solidFill>
                <a:latin typeface="Calibri"/>
              </a:rPr>
              <a:t>SMART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1817" y="2212848"/>
            <a:ext cx="3078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3B2E"/>
                </a:solidFill>
                <a:latin typeface="Calibri"/>
              </a:rPr>
              <a:t>IoT + AI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1817" y="2532888"/>
            <a:ext cx="3078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Sensors track gas pressure and temperature continuously; the mobile app raises automatic alerts.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566160"/>
            <a:ext cx="3407968" cy="1755648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3271" y="371246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C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 spc="120">
                <a:solidFill>
                  <a:srgbClr val="E99A00"/>
                </a:solidFill>
                <a:latin typeface="Calibri"/>
              </a:rPr>
              <a:t>ZERO WASTE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4114800"/>
            <a:ext cx="3078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3B2E"/>
                </a:solidFill>
                <a:latin typeface="Calibri"/>
              </a:rPr>
              <a:t>Residue → fertiliser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4434840"/>
            <a:ext cx="3078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Slurry is dried on a drying bed into organic fertiliser — nothing from the cycle is wasted.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2952" y="3566160"/>
            <a:ext cx="3407968" cy="1755648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87544" y="3712463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C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 spc="120">
                <a:solidFill>
                  <a:srgbClr val="E99A00"/>
                </a:solidFill>
                <a:latin typeface="Calibri"/>
              </a:rPr>
              <a:t>WASTE → ENERGY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7544" y="4114800"/>
            <a:ext cx="3078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3B2E"/>
                </a:solidFill>
                <a:latin typeface="Calibri"/>
              </a:rPr>
              <a:t>Our own waste fuels 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7544" y="4434840"/>
            <a:ext cx="3078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Cooking energy comes from the school’s own organic waste — not imported LPG, petrol, firewood or charcoal.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7225" y="3566160"/>
            <a:ext cx="3407968" cy="1755648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41817" y="371246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C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 spc="120">
                <a:solidFill>
                  <a:srgbClr val="E99A00"/>
                </a:solidFill>
                <a:latin typeface="Calibri"/>
              </a:rPr>
              <a:t>SCALABLE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1817" y="4114800"/>
            <a:ext cx="3078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3B2E"/>
                </a:solidFill>
                <a:latin typeface="Calibri"/>
              </a:rPr>
              <a:t>Modular by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1817" y="4434840"/>
            <a:ext cx="3078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A modular digester with mobile collection means the same design can be replicated in other schools and homes.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541264"/>
            <a:ext cx="10515600" cy="749808"/>
          </a:xfrm>
          <a:prstGeom prst="roundRect">
            <a:avLst>
              <a:gd name="adj" fmla="val 16000"/>
            </a:avLst>
          </a:prstGeom>
          <a:solidFill>
            <a:srgbClr val="FCEFDC"/>
          </a:solidFill>
          <a:ln w="12700">
            <a:solidFill>
              <a:srgbClr val="E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" bIns="27432"/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E99A00"/>
                </a:solidFill>
                <a:latin typeface="Calibri"/>
              </a:rPr>
              <a:t>Innovation in one sentence:  </a:t>
            </a:r>
            <a:r>
              <a:rPr sz="1150" b="0">
                <a:solidFill>
                  <a:srgbClr val="1A2B26"/>
                </a:solidFill>
                <a:latin typeface="Calibri"/>
              </a:rPr>
              <a:t>BSBS turns our biggest problem — waste and polluted air — into our biggest asset: clean energy, cleaner air and fertiliser.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75488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60">
                <a:solidFill>
                  <a:srgbClr val="1B7A4E"/>
                </a:solidFill>
                <a:latin typeface="Calibri"/>
              </a:rPr>
              <a:t>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149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3B2E"/>
                </a:solidFill>
                <a:latin typeface="Calibri"/>
              </a:rPr>
              <a:t>Who Benefits — and How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02336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2881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70">
                <a:solidFill>
                  <a:srgbClr val="5A6B66"/>
                </a:solidFill>
                <a:latin typeface="Calibri"/>
              </a:rPr>
              <a:t>BIOCLEAN SMART BIOGAS SYSTEM  ·  BSBS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1B7A4E"/>
                </a:solidFill>
                <a:latin typeface="Calibri"/>
              </a:rPr>
              <a:t>WHO BENEFITS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56816"/>
            <a:ext cx="3931920" cy="768096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04825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3B2E"/>
                </a:solidFill>
                <a:latin typeface="Calibri"/>
              </a:rP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40864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B66"/>
                </a:solidFill>
                <a:latin typeface="Calibri"/>
              </a:rPr>
              <a:t>Breathable hostels &amp; classrooms; fewer fumes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834640"/>
            <a:ext cx="3931920" cy="768096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9260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3B2E"/>
                </a:solidFill>
                <a:latin typeface="Calibri"/>
              </a:rPr>
              <a:t>The school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218688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B66"/>
                </a:solidFill>
                <a:latin typeface="Calibri"/>
              </a:rPr>
              <a:t>Cleaner campus; savings on LPG &amp; waste removal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12464"/>
            <a:ext cx="3931920" cy="768096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8039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3B2E"/>
                </a:solidFill>
                <a:latin typeface="Calibri"/>
              </a:rPr>
              <a:t>Families &amp; households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096512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B66"/>
                </a:solidFill>
                <a:latin typeface="Calibri"/>
              </a:rPr>
              <a:t>Clean, affordable cooking fuel instead of charcoal &amp; firewood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590288"/>
            <a:ext cx="3931920" cy="768096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6817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3B2E"/>
                </a:solidFill>
                <a:latin typeface="Calibri"/>
              </a:rPr>
              <a:t>Farmers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97433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B66"/>
                </a:solidFill>
                <a:latin typeface="Calibri"/>
              </a:rPr>
              <a:t>Organic fertiliser from the digester residue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468112"/>
            <a:ext cx="3931920" cy="768096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55595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3B2E"/>
                </a:solidFill>
                <a:latin typeface="Calibri"/>
              </a:rPr>
              <a:t>Wider community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5852160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B66"/>
                </a:solidFill>
                <a:latin typeface="Calibri"/>
              </a:rPr>
              <a:t>Less smoke &amp; odour; skills and jobs for residents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1627632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1B7A4E"/>
                </a:solidFill>
                <a:latin typeface="Calibri"/>
              </a:rPr>
              <a:t>WHERE THE IMPACT LANDS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38928" y="2066544"/>
            <a:ext cx="109728" cy="2743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3248" y="195681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956816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Less smoke, smog and sewage gas in and around the buildings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38928" y="2670048"/>
            <a:ext cx="109728" cy="2743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3248" y="256032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560320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Classrooms students can actually breathe 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38928" y="3273552"/>
            <a:ext cx="109728" cy="2743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3248" y="3163824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Energy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163824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Reliable cooking energy; less dependence on LPG, petrol &amp; firewood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38928" y="3877056"/>
            <a:ext cx="109728" cy="2743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3248" y="376732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Waste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767328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Waste is collected and digested — not burned or dumped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38928" y="4480560"/>
            <a:ext cx="109728" cy="2743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13248" y="437083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Agriculture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370832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Fertiliser that helps farmers cultivate more and harvest more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38928" y="5084064"/>
            <a:ext cx="109728" cy="2743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13248" y="497433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Employment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974336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Work for skilled residents in installation, operation &amp; maintenance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5687568"/>
            <a:ext cx="109728" cy="2743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13248" y="557784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3B2E"/>
                </a:solidFill>
                <a:latin typeface="Calibri"/>
              </a:rPr>
              <a:t>Environment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5577840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Methane captured instead of released; less firewood, cleaner air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75488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60">
                <a:solidFill>
                  <a:srgbClr val="1B7A4E"/>
                </a:solidFill>
                <a:latin typeface="Calibr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149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3B2E"/>
                </a:solidFill>
                <a:latin typeface="Calibri"/>
              </a:rPr>
              <a:t>Steps for Implementation — Proposed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02336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2881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70">
                <a:solidFill>
                  <a:srgbClr val="5A6B66"/>
                </a:solidFill>
                <a:latin typeface="Calibri"/>
              </a:rPr>
              <a:t>BIOCLEAN SMART BIOGAS SYSTEM  ·  BSBS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72768"/>
            <a:ext cx="5239512" cy="2084831"/>
          </a:xfrm>
          <a:prstGeom prst="roundRect">
            <a:avLst>
              <a:gd name="adj" fmla="val 5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82495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20">
                <a:solidFill>
                  <a:srgbClr val="1B7A4E"/>
                </a:solidFill>
                <a:latin typeface="Calibri"/>
              </a:rPr>
              <a:t>1 · IMPLEMENTATION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572768"/>
            <a:ext cx="5239512" cy="2084831"/>
          </a:xfrm>
          <a:prstGeom prst="roundRect">
            <a:avLst>
              <a:gd name="adj" fmla="val 5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682495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20">
                <a:solidFill>
                  <a:srgbClr val="1B7A4E"/>
                </a:solidFill>
                <a:latin typeface="Calibri"/>
              </a:rPr>
              <a:t>2 · PEOPLE &amp; MENTORSHIP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67328"/>
            <a:ext cx="5239512" cy="1536192"/>
          </a:xfrm>
          <a:prstGeom prst="roundRect">
            <a:avLst>
              <a:gd name="adj" fmla="val 5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77056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20">
                <a:solidFill>
                  <a:srgbClr val="1B7A4E"/>
                </a:solidFill>
                <a:latin typeface="Calibri"/>
              </a:rPr>
              <a:t>3 · MATERIALS &amp; EQUIPMENT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3767328"/>
            <a:ext cx="5239512" cy="1536192"/>
          </a:xfrm>
          <a:prstGeom prst="roundRect">
            <a:avLst>
              <a:gd name="adj" fmla="val 5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877056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20">
                <a:solidFill>
                  <a:srgbClr val="1B7A4E"/>
                </a:solidFill>
                <a:latin typeface="Calibri"/>
              </a:rPr>
              <a:t>4 · FINANCIAL COMMITMENT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1965960"/>
            <a:ext cx="256032" cy="256032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193852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Approvals &amp; site prep — permits, safety review, pilot site (hostel / refectory area)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" y="2299715"/>
            <a:ext cx="256032" cy="256032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2272284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Procurement — order the equipment &amp; materials (panel 3)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2633472"/>
            <a:ext cx="256032" cy="256032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26060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Installation — engineers &amp; plumbing team fit digester, scrubber, storage &amp; piping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" y="2967228"/>
            <a:ext cx="256032" cy="256032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2939796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Inoculation &amp; safety testing — microbes added; gas quality &amp; safety checked</a:t>
            </a:r>
          </a:p>
        </p:txBody>
      </p:sp>
      <p:sp>
        <p:nvSpPr>
          <p:cNvPr id="25" name="Oval 24"/>
          <p:cNvSpPr/>
          <p:nvPr/>
        </p:nvSpPr>
        <p:spPr>
          <a:xfrm>
            <a:off x="1051560" y="3300984"/>
            <a:ext cx="256032" cy="256032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3273552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A2B26"/>
                </a:solidFill>
                <a:latin typeface="Calibri"/>
              </a:rPr>
              <a:t>Commissioning — run the first 7-day gas cycle; hand over to the Green Club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1938528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0E3B2E"/>
                </a:solidFill>
                <a:latin typeface="Calibri"/>
              </a:rPr>
              <a:t>10 Green Club students  —  </a:t>
            </a:r>
            <a:r>
              <a:rPr sz="900" b="0">
                <a:solidFill>
                  <a:srgbClr val="1A2B26"/>
                </a:solidFill>
                <a:latin typeface="Calibri"/>
              </a:rPr>
              <a:t>day-to-day pilot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272284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0E3B2E"/>
                </a:solidFill>
                <a:latin typeface="Calibri"/>
              </a:rPr>
              <a:t>2 juniors  —  </a:t>
            </a:r>
            <a:r>
              <a:rPr sz="900" b="0">
                <a:solidFill>
                  <a:srgbClr val="1A2B26"/>
                </a:solidFill>
                <a:latin typeface="Calibri"/>
              </a:rPr>
              <a:t>trained every year for continuity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606040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0E3B2E"/>
                </a:solidFill>
                <a:latin typeface="Calibri"/>
              </a:rPr>
              <a:t>Engineers · plumbing · safety specialists  —  </a:t>
            </a:r>
            <a:r>
              <a:rPr sz="900" b="0">
                <a:solidFill>
                  <a:srgbClr val="1A2B26"/>
                </a:solidFill>
                <a:latin typeface="Calibri"/>
              </a:rPr>
              <a:t>installation &amp;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2939796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0E3B2E"/>
                </a:solidFill>
                <a:latin typeface="Calibri"/>
              </a:rPr>
              <a:t>Labourers  —  </a:t>
            </a:r>
            <a:r>
              <a:rPr sz="900" b="0">
                <a:solidFill>
                  <a:srgbClr val="1A2B26"/>
                </a:solidFill>
                <a:latin typeface="Calibri"/>
              </a:rPr>
              <a:t>site &amp; construction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273552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0E3B2E"/>
                </a:solidFill>
                <a:latin typeface="Calibri"/>
              </a:rPr>
              <a:t>Mentorship  —  </a:t>
            </a:r>
            <a:r>
              <a:rPr sz="900" b="0">
                <a:solidFill>
                  <a:srgbClr val="1A2B26"/>
                </a:solidFill>
                <a:latin typeface="Calibri"/>
              </a:rPr>
              <a:t>technical guidance from the engineers &amp; partners; leadership support from school management &amp; the P.T.A.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1" y="4169663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" y="4210812"/>
            <a:ext cx="1435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A2B26"/>
                </a:solidFill>
                <a:latin typeface="Calibri"/>
              </a:rPr>
              <a:t>Modular digester unit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88336" y="4169663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9776" y="4210812"/>
            <a:ext cx="1435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A2B26"/>
                </a:solidFill>
                <a:latin typeface="Calibri"/>
              </a:rPr>
              <a:t>Inlet plumbing + tank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4169663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210812"/>
            <a:ext cx="1435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A2B26"/>
                </a:solidFill>
                <a:latin typeface="Calibri"/>
              </a:rPr>
              <a:t>Pre-filter + mixing tank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3271" y="44805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" y="4521708"/>
            <a:ext cx="1435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A2B26"/>
                </a:solidFill>
                <a:latin typeface="Calibri"/>
              </a:rPr>
              <a:t>Scrubber + H₂S filter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88336" y="44805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9776" y="4521708"/>
            <a:ext cx="1435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A2B26"/>
                </a:solidFill>
                <a:latin typeface="Calibri"/>
              </a:rPr>
              <a:t>Gas storage bags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44805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521708"/>
            <a:ext cx="1435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A2B26"/>
                </a:solidFill>
                <a:latin typeface="Calibri"/>
              </a:rPr>
              <a:t>HDPE pipe + converter kit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1" y="4791456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4712" y="4832604"/>
            <a:ext cx="1435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A2B26"/>
                </a:solidFill>
                <a:latin typeface="Calibri"/>
              </a:rPr>
              <a:t>Slurry outlet + drying bed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88336" y="4791456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79776" y="4832604"/>
            <a:ext cx="1435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A2B26"/>
                </a:solidFill>
                <a:latin typeface="Calibri"/>
              </a:rPr>
              <a:t>Microbes (inoculant)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43400" y="4791456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4832604"/>
            <a:ext cx="1435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A2B26"/>
                </a:solidFill>
                <a:latin typeface="Calibri"/>
              </a:rPr>
              <a:t>IoT sensors + mobile app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41148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B26"/>
                </a:solidFill>
                <a:latin typeface="Calibri"/>
              </a:rPr>
              <a:t>Equipment &amp; materials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60" y="410565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0E3B2E"/>
                </a:solidFill>
                <a:latin typeface="Calibri"/>
              </a:rPr>
              <a:t>₦50,000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3952" y="438912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B26"/>
                </a:solidFill>
                <a:latin typeface="Calibri"/>
              </a:rPr>
              <a:t>Installation &amp; labour — engineers, plumbing, safety, labourers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5560" y="437997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0E3B2E"/>
                </a:solidFill>
                <a:latin typeface="Calibri"/>
              </a:rPr>
              <a:t>₦50,000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466344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B26"/>
                </a:solidFill>
                <a:latin typeface="Calibri"/>
              </a:rPr>
              <a:t>Contingency, permits, microbes &amp; app monitoring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5560" y="465429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0E3B2E"/>
                </a:solidFill>
                <a:latin typeface="Calibri"/>
              </a:rPr>
              <a:t>₦50,000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73952" y="4937760"/>
            <a:ext cx="4910328" cy="347472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ctr"/>
            <a:r>
              <a:rPr sz="950" b="1" spc="80">
                <a:solidFill>
                  <a:srgbClr val="FFFFFF"/>
                </a:solidFill>
                <a:latin typeface="Calibri"/>
              </a:rPr>
              <a:t>TOTAL  </a:t>
            </a:r>
            <a:r>
              <a:rPr sz="1100" b="1">
                <a:solidFill>
                  <a:srgbClr val="E99A00"/>
                </a:solidFill>
                <a:latin typeface="Calibri"/>
              </a:rPr>
              <a:t>₦150,000</a:t>
            </a:r>
            <a:r>
              <a:rPr sz="850" b="0">
                <a:solidFill>
                  <a:srgbClr val="E8F3EC"/>
                </a:solidFill>
                <a:latin typeface="Calibri"/>
              </a:rPr>
              <a:t>   ·  within the ₦200,000 limit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" y="5504688"/>
            <a:ext cx="10515600" cy="841248"/>
          </a:xfrm>
          <a:prstGeom prst="roundRect">
            <a:avLst>
              <a:gd name="adj" fmla="val 12000"/>
            </a:avLst>
          </a:prstGeom>
          <a:solidFill>
            <a:srgbClr val="0E3B2E"/>
          </a:solidFill>
          <a:ln w="12700">
            <a:solidFill>
              <a:srgbClr val="0E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97280" y="56144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20">
                <a:solidFill>
                  <a:srgbClr val="E99A00"/>
                </a:solidFill>
                <a:latin typeface="Calibri"/>
              </a:rPr>
              <a:t>PROPOSED PILOT TIMELINE · 8 WEEKS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97280" y="5888736"/>
            <a:ext cx="1892807" cy="365760"/>
          </a:xfrm>
          <a:prstGeom prst="roundRect">
            <a:avLst>
              <a:gd name="adj" fmla="val 50000"/>
            </a:avLst>
          </a:prstGeom>
          <a:solidFill>
            <a:srgbClr val="14452F"/>
          </a:solidFill>
          <a:ln w="9525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Wks 1–2 · Approvals &amp; procurement</a:t>
            </a:r>
          </a:p>
        </p:txBody>
      </p:sp>
      <p:sp>
        <p:nvSpPr>
          <p:cNvPr id="60" name="Chevron 59"/>
          <p:cNvSpPr/>
          <p:nvPr/>
        </p:nvSpPr>
        <p:spPr>
          <a:xfrm>
            <a:off x="2999231" y="5998464"/>
            <a:ext cx="146304" cy="146304"/>
          </a:xfrm>
          <a:prstGeom prst="chevron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154679" y="588873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14452F"/>
          </a:solidFill>
          <a:ln w="9525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Wks 3–4 · Installation</a:t>
            </a:r>
          </a:p>
        </p:txBody>
      </p:sp>
      <p:sp>
        <p:nvSpPr>
          <p:cNvPr id="62" name="Chevron 61"/>
          <p:cNvSpPr/>
          <p:nvPr/>
        </p:nvSpPr>
        <p:spPr>
          <a:xfrm>
            <a:off x="4498848" y="5998464"/>
            <a:ext cx="146304" cy="146304"/>
          </a:xfrm>
          <a:prstGeom prst="chevron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654296" y="5888736"/>
            <a:ext cx="1993392" cy="365760"/>
          </a:xfrm>
          <a:prstGeom prst="roundRect">
            <a:avLst>
              <a:gd name="adj" fmla="val 50000"/>
            </a:avLst>
          </a:prstGeom>
          <a:solidFill>
            <a:srgbClr val="14452F"/>
          </a:solidFill>
          <a:ln w="9525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Wk 5 · Inoculation &amp; safety testing</a:t>
            </a:r>
          </a:p>
        </p:txBody>
      </p:sp>
      <p:sp>
        <p:nvSpPr>
          <p:cNvPr id="64" name="Chevron 63"/>
          <p:cNvSpPr/>
          <p:nvPr/>
        </p:nvSpPr>
        <p:spPr>
          <a:xfrm>
            <a:off x="6656831" y="5998464"/>
            <a:ext cx="146304" cy="146304"/>
          </a:xfrm>
          <a:prstGeom prst="chevron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812279" y="5888736"/>
            <a:ext cx="1792224" cy="365760"/>
          </a:xfrm>
          <a:prstGeom prst="roundRect">
            <a:avLst>
              <a:gd name="adj" fmla="val 50000"/>
            </a:avLst>
          </a:prstGeom>
          <a:solidFill>
            <a:srgbClr val="14452F"/>
          </a:solidFill>
          <a:ln w="9525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Wks 6–7 · First 7-day gas cycle</a:t>
            </a:r>
          </a:p>
        </p:txBody>
      </p:sp>
      <p:sp>
        <p:nvSpPr>
          <p:cNvPr id="66" name="Chevron 65"/>
          <p:cNvSpPr/>
          <p:nvPr/>
        </p:nvSpPr>
        <p:spPr>
          <a:xfrm>
            <a:off x="8613648" y="5998464"/>
            <a:ext cx="146304" cy="146304"/>
          </a:xfrm>
          <a:prstGeom prst="chevron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769096" y="5888736"/>
            <a:ext cx="1591056" cy="365760"/>
          </a:xfrm>
          <a:prstGeom prst="roundRect">
            <a:avLst>
              <a:gd name="adj" fmla="val 50000"/>
            </a:avLst>
          </a:prstGeom>
          <a:solidFill>
            <a:srgbClr val="14452F"/>
          </a:solidFill>
          <a:ln w="9525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Wk 8 · Handover to Green Club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75488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60">
                <a:solidFill>
                  <a:srgbClr val="1B7A4E"/>
                </a:solidFill>
                <a:latin typeface="Calibri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149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3B2E"/>
                </a:solidFill>
                <a:latin typeface="Calibri"/>
              </a:rPr>
              <a:t>What We Expect — and How We Sustain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02336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2881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70">
                <a:solidFill>
                  <a:srgbClr val="5A6B66"/>
                </a:solidFill>
                <a:latin typeface="Calibri"/>
              </a:rPr>
              <a:t>BIOCLEAN SMART BIOGAS SYSTEM  ·  BSBS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27632"/>
            <a:ext cx="3407968" cy="3913632"/>
          </a:xfrm>
          <a:prstGeom prst="roundRect">
            <a:avLst>
              <a:gd name="adj" fmla="val 5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73936"/>
            <a:ext cx="304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20">
                <a:solidFill>
                  <a:srgbClr val="5A6B66"/>
                </a:solidFill>
                <a:latin typeface="Calibri"/>
              </a:rPr>
              <a:t>OBSERVED TODAY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2185415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121408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Students in hostels report drowsiness &amp; nausea (NH₃, H₂S)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2862071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2798063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Waste is burned on campus; smoke in classrooms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538727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474720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Homes depend on charcoal, firewood &amp; generators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4215384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4151376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≈ ₦1.56m wasted every year on waste &amp; fuel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2952" y="1627632"/>
            <a:ext cx="3407968" cy="3913632"/>
          </a:xfrm>
          <a:prstGeom prst="roundRect">
            <a:avLst>
              <a:gd name="adj" fmla="val 5000"/>
            </a:avLst>
          </a:prstGeom>
          <a:solidFill>
            <a:srgbClr val="E8F3EC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5832" y="1773936"/>
            <a:ext cx="304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20">
                <a:solidFill>
                  <a:srgbClr val="1B7A4E"/>
                </a:solidFill>
                <a:latin typeface="Calibri"/>
              </a:rPr>
              <a:t>EXPECTED FROM THE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5832" y="2048256"/>
            <a:ext cx="3042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5A6B66"/>
                </a:solidFill>
                <a:latin typeface="Calibri"/>
              </a:rPr>
              <a:t>PROJECTED — TO BE MEASURED</a:t>
            </a:r>
          </a:p>
        </p:txBody>
      </p:sp>
      <p:sp>
        <p:nvSpPr>
          <p:cNvPr id="22" name="Oval 21"/>
          <p:cNvSpPr/>
          <p:nvPr/>
        </p:nvSpPr>
        <p:spPr>
          <a:xfrm>
            <a:off x="4605832" y="2478024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7000" y="2414016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Biogas cooking in the pilot area — no LPG or firewood needed</a:t>
            </a:r>
          </a:p>
        </p:txBody>
      </p:sp>
      <p:sp>
        <p:nvSpPr>
          <p:cNvPr id="24" name="Oval 23"/>
          <p:cNvSpPr/>
          <p:nvPr/>
        </p:nvSpPr>
        <p:spPr>
          <a:xfrm>
            <a:off x="4605832" y="3081528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7000" y="3017520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Zero open burning of collected waste → less smoke &amp; odour</a:t>
            </a:r>
          </a:p>
        </p:txBody>
      </p:sp>
      <p:sp>
        <p:nvSpPr>
          <p:cNvPr id="26" name="Oval 25"/>
          <p:cNvSpPr/>
          <p:nvPr/>
        </p:nvSpPr>
        <p:spPr>
          <a:xfrm>
            <a:off x="4605832" y="3685032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7000" y="3621024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Usable gas within the 7-day digestion cycle</a:t>
            </a:r>
          </a:p>
        </p:txBody>
      </p:sp>
      <p:sp>
        <p:nvSpPr>
          <p:cNvPr id="28" name="Oval 27"/>
          <p:cNvSpPr/>
          <p:nvPr/>
        </p:nvSpPr>
        <p:spPr>
          <a:xfrm>
            <a:off x="4605832" y="4288536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7000" y="4224528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Organic fertiliser produced on the drying bed</a:t>
            </a:r>
          </a:p>
        </p:txBody>
      </p:sp>
      <p:sp>
        <p:nvSpPr>
          <p:cNvPr id="30" name="Oval 29"/>
          <p:cNvSpPr/>
          <p:nvPr/>
        </p:nvSpPr>
        <p:spPr>
          <a:xfrm>
            <a:off x="4605832" y="4892040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7000" y="4828032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2B26"/>
                </a:solidFill>
                <a:latin typeface="Calibri"/>
              </a:rPr>
              <a:t>Gas pressure &amp; temperature logged by sensors + app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7225" y="1627632"/>
            <a:ext cx="3407968" cy="3913632"/>
          </a:xfrm>
          <a:prstGeom prst="roundRect">
            <a:avLst>
              <a:gd name="adj" fmla="val 5000"/>
            </a:avLst>
          </a:prstGeom>
          <a:solidFill>
            <a:srgbClr val="0E3B2E"/>
          </a:solidFill>
          <a:ln w="12700">
            <a:solidFill>
              <a:srgbClr val="0E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60105" y="1773936"/>
            <a:ext cx="304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20">
                <a:solidFill>
                  <a:srgbClr val="E99A00"/>
                </a:solidFill>
                <a:latin typeface="Calibri"/>
              </a:rPr>
              <a:t>SCALE &amp; SUSTAINABILITY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8160105" y="2185415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1273" y="2121408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Calibri"/>
              </a:rPr>
              <a:t>Full-school model projects ₦1.88m net benefit per year, 17-month payback</a:t>
            </a:r>
          </a:p>
        </p:txBody>
      </p:sp>
      <p:sp>
        <p:nvSpPr>
          <p:cNvPr id="36" name="Oval 35"/>
          <p:cNvSpPr/>
          <p:nvPr/>
        </p:nvSpPr>
        <p:spPr>
          <a:xfrm>
            <a:off x="8160105" y="2862071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1273" y="2798063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Calibri"/>
              </a:rPr>
              <a:t>Projected 5-year savings: ₦6.75m — for labs, infrastructure &amp; scholarships</a:t>
            </a:r>
          </a:p>
        </p:txBody>
      </p:sp>
      <p:sp>
        <p:nvSpPr>
          <p:cNvPr id="38" name="Oval 37"/>
          <p:cNvSpPr/>
          <p:nvPr/>
        </p:nvSpPr>
        <p:spPr>
          <a:xfrm>
            <a:off x="8160105" y="3538727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1273" y="3474720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Calibri"/>
              </a:rPr>
              <a:t>Sustained by the Green Club (10 students) with 2 juniors trained for continuity</a:t>
            </a:r>
          </a:p>
        </p:txBody>
      </p:sp>
      <p:sp>
        <p:nvSpPr>
          <p:cNvPr id="40" name="Oval 39"/>
          <p:cNvSpPr/>
          <p:nvPr/>
        </p:nvSpPr>
        <p:spPr>
          <a:xfrm>
            <a:off x="8160105" y="4215384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1273" y="4151376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Calibri"/>
              </a:rPr>
              <a:t>Replicable: modular design + trained team → other schools &amp; communities</a:t>
            </a:r>
          </a:p>
        </p:txBody>
      </p:sp>
      <p:sp>
        <p:nvSpPr>
          <p:cNvPr id="42" name="Oval 41"/>
          <p:cNvSpPr/>
          <p:nvPr/>
        </p:nvSpPr>
        <p:spPr>
          <a:xfrm>
            <a:off x="8160105" y="4892040"/>
            <a:ext cx="91440" cy="91440"/>
          </a:xfrm>
          <a:prstGeom prst="ellipse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1273" y="4828032"/>
            <a:ext cx="2841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Calibri"/>
              </a:rPr>
              <a:t>Creates work for skilled residents in installation &amp; operation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5705856"/>
            <a:ext cx="10515600" cy="603504"/>
          </a:xfrm>
          <a:prstGeom prst="roundRect">
            <a:avLst>
              <a:gd name="adj" fmla="val 50000"/>
            </a:avLst>
          </a:prstGeom>
          <a:solidFill>
            <a:srgbClr val="FCEFDC"/>
          </a:solidFill>
          <a:ln w="12700">
            <a:solidFill>
              <a:srgbClr val="E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" bIns="27432"/>
          <a:lstStyle/>
          <a:p>
            <a:pPr algn="l"/>
            <a:r>
              <a:rPr sz="1100" b="1">
                <a:solidFill>
                  <a:srgbClr val="E99A00"/>
                </a:solidFill>
                <a:latin typeface="Calibri"/>
              </a:rPr>
              <a:t>Honest by design: </a:t>
            </a:r>
            <a:r>
              <a:rPr sz="1100" b="0">
                <a:solidFill>
                  <a:srgbClr val="1A2B26"/>
                </a:solidFill>
                <a:latin typeface="Calibri"/>
              </a:rPr>
              <a:t>every figure above is a projection, not a result — the pilot’s sensor data will prove what actually happens.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6692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200">
                <a:solidFill>
                  <a:srgbClr val="E99A00"/>
                </a:solidFill>
                <a:latin typeface="Calibri"/>
              </a:rPr>
              <a:t>CALL 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59536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Let’s Breathe Clean Air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00784"/>
            <a:ext cx="2519172" cy="1371600"/>
          </a:xfrm>
          <a:prstGeom prst="roundRect">
            <a:avLst>
              <a:gd name="adj" fmla="val 7000"/>
            </a:avLst>
          </a:prstGeom>
          <a:solidFill>
            <a:srgbClr val="123F2F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847088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20">
                <a:solidFill>
                  <a:srgbClr val="E99A00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139696"/>
            <a:ext cx="218998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E8F3EC"/>
                </a:solidFill>
                <a:latin typeface="Calibri"/>
              </a:rPr>
              <a:t>Fumes, smoke and no clean energy in our school and community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4156" y="1700784"/>
            <a:ext cx="2519172" cy="1371600"/>
          </a:xfrm>
          <a:prstGeom prst="roundRect">
            <a:avLst>
              <a:gd name="adj" fmla="val 7000"/>
            </a:avLst>
          </a:prstGeom>
          <a:solidFill>
            <a:srgbClr val="123F2F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8748" y="1847088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20">
                <a:solidFill>
                  <a:srgbClr val="E99A00"/>
                </a:solidFill>
                <a:latin typeface="Calibri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8748" y="2139696"/>
            <a:ext cx="218998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E8F3EC"/>
                </a:solidFill>
                <a:latin typeface="Calibri"/>
              </a:rPr>
              <a:t>BSBS: waste → anaerobic digestion → biogas → clean energy + fertiliser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00784"/>
            <a:ext cx="2519172" cy="1371600"/>
          </a:xfrm>
          <a:prstGeom prst="roundRect">
            <a:avLst>
              <a:gd name="adj" fmla="val 7000"/>
            </a:avLst>
          </a:prstGeom>
          <a:solidFill>
            <a:srgbClr val="123F2F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847088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20">
                <a:solidFill>
                  <a:srgbClr val="E99A00"/>
                </a:solidFill>
                <a:latin typeface="Calibri"/>
              </a:rPr>
              <a:t>THE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139696"/>
            <a:ext cx="218998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E8F3EC"/>
                </a:solidFill>
                <a:latin typeface="Calibri"/>
              </a:rPr>
              <a:t>Healthier students, cleaner air, fertiliser for farmers, new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5108" y="1700784"/>
            <a:ext cx="2519172" cy="1371600"/>
          </a:xfrm>
          <a:prstGeom prst="roundRect">
            <a:avLst>
              <a:gd name="adj" fmla="val 7000"/>
            </a:avLst>
          </a:prstGeom>
          <a:solidFill>
            <a:srgbClr val="123F2F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9700" y="1847088"/>
            <a:ext cx="21899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20">
                <a:solidFill>
                  <a:srgbClr val="E99A00"/>
                </a:solidFill>
                <a:latin typeface="Calibri"/>
              </a:rPr>
              <a:t>THE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9700" y="2139696"/>
            <a:ext cx="218998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E8F3EC"/>
                </a:solidFill>
                <a:latin typeface="Calibri"/>
              </a:rPr>
              <a:t>An 8-week pilot with a confirmed ₦150,000 budget — within the ₦200,000 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015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E99A00"/>
                </a:solidFill>
                <a:latin typeface="Calibri"/>
              </a:rPr>
              <a:t>Fund this pilot — and watch a federal college in Enugu turn its waste into clean energy.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416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3EC"/>
                </a:solidFill>
                <a:latin typeface="Calibri"/>
              </a:rPr>
              <a:t>From Waste to Wealth. From Problem to Power. This is not just a project — it is my legacy.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626864"/>
            <a:ext cx="3108960" cy="25603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28032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spc="14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/>
            <a:r>
              <a:rPr sz="1150" b="0">
                <a:solidFill>
                  <a:srgbClr val="E8F3EC"/>
                </a:solidFill>
                <a:latin typeface="Calibri"/>
              </a:rPr>
              <a:t>Chinwuba Chinwendu Jennifer  ·  Head Girl  ·  Federal Government College, Enugu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4956048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spc="80">
                <a:solidFill>
                  <a:srgbClr val="FFFFFF"/>
                </a:solidFill>
                <a:latin typeface="Calibri"/>
              </a:rPr>
              <a:t>WASTE  →  ENERGY</a:t>
            </a:r>
          </a:p>
        </p:txBody>
      </p:sp>
      <p:pic>
        <p:nvPicPr>
          <p:cNvPr id="24" name="Picture 23" descr="image2.jpeg"/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0" y="0"/>
            <a:ext cx="12188952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9056</Words>
  <Application>WPS Presentation</Application>
  <PresentationFormat>On-screen Show (4:3)</PresentationFormat>
  <Paragraphs>351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akach</cp:lastModifiedBy>
  <cp:revision>10</cp:revision>
  <dcterms:created xsi:type="dcterms:W3CDTF">2013-01-27T09:14:00Z</dcterms:created>
  <dcterms:modified xsi:type="dcterms:W3CDTF">2026-09-11T07:58:00Z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7FBBD8983E10454FBAC8FE26E4CEBE1B_13</vt:lpwstr>
  </property>
  <property fmtid="{D5CDD505-2E9C-101B-9397-08002B2CF9AE}" pid="3" name="KSOProductBuildVer">
    <vt:lpwstr>2057-12.2.0.23206</vt:lpwstr>
  </property>
</Properties>
</file>